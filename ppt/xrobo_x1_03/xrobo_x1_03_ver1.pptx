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8942" y="609600"/>
            <a:ext cx="3210015" cy="518351"/>
            <a:chOff x="678942" y="609600"/>
            <a:chExt cx="3210015" cy="518351"/>
          </a:xfrm>
        </p:grpSpPr>
        <p:sp>
          <p:nvSpPr>
            <p:cNvPr id="2" name="Rectangle 2"/>
            <p:cNvSpPr/>
            <p:nvPr/>
          </p:nvSpPr>
          <p:spPr>
            <a:xfrm>
              <a:off x="685800" y="609600"/>
              <a:ext cx="4572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863918"/>
              <a:ext cx="3210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FFFFFF">
                      <a:alphaMod val="85000"/>
                    </a:srgbClr>
                  </a:solidFill>
                  <a:latin typeface="Pretendard"/>
                  <a:ea typeface="Pretendard"/>
                  <a:cs typeface="Pretendard"/>
                </a:rPr>
                <a:t>공동교육과정 · 로봇 소프트웨어 개발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2339340"/>
            <a:ext cx="6322104" cy="2073783"/>
            <a:chOff x="666750" y="2339340"/>
            <a:chExt cx="6322104" cy="2073783"/>
          </a:xfrm>
        </p:grpSpPr>
        <p:sp>
          <p:nvSpPr>
            <p:cNvPr id="5" name="TextBox 5"/>
            <p:cNvSpPr txBox="1"/>
            <p:nvPr/>
          </p:nvSpPr>
          <p:spPr>
            <a:xfrm>
              <a:off x="666750" y="2339340"/>
              <a:ext cx="499103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8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엑스쿠터 컨트롤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3139440"/>
              <a:ext cx="607661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800" b="1" dirty="0">
                  <a:solidFill>
                    <a:srgbClr val="F97316"/>
                  </a:solidFill>
                  <a:latin typeface="Pretendard"/>
                  <a:ea typeface="Pretendard"/>
                  <a:cs typeface="Pretendard"/>
                </a:rPr>
                <a:t>소스 코드 완전 분석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5132" y="4002405"/>
              <a:ext cx="63137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FFFFFF">
                      <a:alphaMod val="90000"/>
                    </a:srgbClr>
                  </a:solidFill>
                  <a:latin typeface="Pretendard"/>
                  <a:ea typeface="Pretendard"/>
                  <a:cs typeface="Pretendard"/>
                </a:rPr>
                <a:t>mBlock 프로젝트를 블록 하나까지 뜯어 읽는 시간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4914900"/>
            <a:ext cx="6534150" cy="495300"/>
            <a:chOff x="685800" y="4914900"/>
            <a:chExt cx="6534150" cy="495300"/>
          </a:xfrm>
        </p:grpSpPr>
        <p:sp>
          <p:nvSpPr>
            <p:cNvPr id="9" name="Rectangle 9"/>
            <p:cNvSpPr/>
            <p:nvPr/>
          </p:nvSpPr>
          <p:spPr>
            <a:xfrm>
              <a:off x="685800" y="4914900"/>
              <a:ext cx="2571750" cy="495300"/>
            </a:xfrm>
            <a:prstGeom prst="rect">
              <a:avLst/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7542" y="5083492"/>
              <a:ext cx="2383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교구 · XROBO Extreme X1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48050" y="4914900"/>
              <a:ext cx="2057400" cy="495300"/>
            </a:xfrm>
            <a:prstGeom prst="rect">
              <a:avLst/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69792" y="5083492"/>
              <a:ext cx="14102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도구 · mBlock 5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695950" y="4914900"/>
              <a:ext cx="1524000" cy="495300"/>
            </a:xfrm>
            <a:prstGeom prst="rect">
              <a:avLst/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7692" y="5083492"/>
              <a:ext cx="500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3차시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0" y="2095500"/>
            <a:ext cx="2095500" cy="2095500"/>
            <a:chOff x="9144000" y="2095500"/>
            <a:chExt cx="2095500" cy="2095500"/>
          </a:xfrm>
        </p:grpSpPr>
        <p:sp>
          <p:nvSpPr>
            <p:cNvPr id="16" name="Rectangle 16"/>
            <p:cNvSpPr/>
            <p:nvPr/>
          </p:nvSpPr>
          <p:spPr>
            <a:xfrm>
              <a:off x="9144000" y="2095500"/>
              <a:ext cx="2095500" cy="2095500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620250" y="2571750"/>
              <a:ext cx="1143000" cy="1071562"/>
            </a:xfrm>
            <a:custGeom>
              <a:avLst/>
              <a:gdLst/>
              <a:ahLst/>
              <a:cxnLst/>
              <a:rect l="l" t="t" r="r" b="b"/>
              <a:pathLst>
                <a:path w="1143000" h="1071562">
                  <a:moveTo>
                    <a:pt x="642938" y="0"/>
                  </a:moveTo>
                  <a:lnTo>
                    <a:pt x="642938" y="142875"/>
                  </a:lnTo>
                  <a:lnTo>
                    <a:pt x="928688" y="142875"/>
                  </a:lnTo>
                  <a:lnTo>
                    <a:pt x="1143000" y="607219"/>
                  </a:lnTo>
                  <a:lnTo>
                    <a:pt x="928688" y="1071562"/>
                  </a:lnTo>
                  <a:lnTo>
                    <a:pt x="214312" y="1071562"/>
                  </a:lnTo>
                  <a:lnTo>
                    <a:pt x="0" y="607219"/>
                  </a:lnTo>
                  <a:lnTo>
                    <a:pt x="214312" y="142875"/>
                  </a:lnTo>
                  <a:lnTo>
                    <a:pt x="500062" y="142875"/>
                  </a:lnTo>
                  <a:lnTo>
                    <a:pt x="500062" y="0"/>
                  </a:lnTo>
                  <a:lnTo>
                    <a:pt x="642938" y="0"/>
                  </a:lnTo>
                  <a:close/>
                  <a:moveTo>
                    <a:pt x="328465" y="838562"/>
                  </a:moveTo>
                  <a:lnTo>
                    <a:pt x="571500" y="875952"/>
                  </a:lnTo>
                  <a:lnTo>
                    <a:pt x="814538" y="838562"/>
                  </a:lnTo>
                  <a:lnTo>
                    <a:pt x="792806" y="697346"/>
                  </a:lnTo>
                  <a:lnTo>
                    <a:pt x="571500" y="731391"/>
                  </a:lnTo>
                  <a:lnTo>
                    <a:pt x="350191" y="697346"/>
                  </a:lnTo>
                  <a:lnTo>
                    <a:pt x="328465" y="838562"/>
                  </a:lnTo>
                  <a:close/>
                  <a:moveTo>
                    <a:pt x="500062" y="482203"/>
                  </a:moveTo>
                  <a:cubicBezTo>
                    <a:pt x="500062" y="531521"/>
                    <a:pt x="460083" y="571500"/>
                    <a:pt x="410766" y="571500"/>
                  </a:cubicBezTo>
                  <a:cubicBezTo>
                    <a:pt x="361448" y="571500"/>
                    <a:pt x="321469" y="531521"/>
                    <a:pt x="321469" y="482203"/>
                  </a:cubicBezTo>
                  <a:cubicBezTo>
                    <a:pt x="321469" y="432886"/>
                    <a:pt x="361448" y="392906"/>
                    <a:pt x="410766" y="392906"/>
                  </a:cubicBezTo>
                  <a:cubicBezTo>
                    <a:pt x="460083" y="392906"/>
                    <a:pt x="500062" y="432886"/>
                    <a:pt x="500062" y="482203"/>
                  </a:cubicBezTo>
                  <a:close/>
                  <a:moveTo>
                    <a:pt x="732234" y="571500"/>
                  </a:moveTo>
                  <a:cubicBezTo>
                    <a:pt x="781555" y="571500"/>
                    <a:pt x="821531" y="531521"/>
                    <a:pt x="821531" y="482203"/>
                  </a:cubicBezTo>
                  <a:cubicBezTo>
                    <a:pt x="821531" y="432886"/>
                    <a:pt x="781555" y="392906"/>
                    <a:pt x="732234" y="392906"/>
                  </a:cubicBezTo>
                  <a:cubicBezTo>
                    <a:pt x="682917" y="392906"/>
                    <a:pt x="642938" y="432886"/>
                    <a:pt x="642938" y="482203"/>
                  </a:cubicBezTo>
                  <a:cubicBezTo>
                    <a:pt x="642938" y="531521"/>
                    <a:pt x="682917" y="571500"/>
                    <a:pt x="732234" y="571500"/>
                  </a:cubicBezTo>
                  <a:close/>
                </a:path>
              </a:pathLst>
            </a:custGeom>
            <a:solidFill>
              <a:srgbClr val="F97316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679704" y="6233160"/>
            <a:ext cx="3636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>
                    <a:alphaMod val="60000"/>
                  </a:srgbClr>
                </a:solidFill>
                <a:latin typeface="Pretendard"/>
                <a:ea typeface="Pretendard"/>
                <a:cs typeface="Pretendard"/>
              </a:rPr>
              <a:t>XROBO_Extreme_X1_03______v250521.mblock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97218"/>
            <a:ext cx="10836402" cy="898207"/>
            <a:chOff x="669798" y="597218"/>
            <a:chExt cx="10836402" cy="8982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20299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OVERVIEW · 수업 개요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4659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어떤 수업에서, 무엇으로 배우나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8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85800" y="1809750"/>
            <a:ext cx="3352800" cy="3810000"/>
            <a:chOff x="685800" y="1809750"/>
            <a:chExt cx="3352800" cy="38100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3352800" cy="3810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809750"/>
              <a:ext cx="3352800" cy="5715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990600" y="2224088"/>
              <a:ext cx="419100" cy="340519"/>
            </a:xfrm>
            <a:custGeom>
              <a:avLst/>
              <a:gdLst/>
              <a:ahLst/>
              <a:cxnLst/>
              <a:rect l="l" t="t" r="r" b="b"/>
              <a:pathLst>
                <a:path w="419100" h="340519">
                  <a:moveTo>
                    <a:pt x="0" y="0"/>
                  </a:moveTo>
                  <a:lnTo>
                    <a:pt x="93925" y="0"/>
                  </a:lnTo>
                  <a:cubicBezTo>
                    <a:pt x="117644" y="0"/>
                    <a:pt x="140391" y="9422"/>
                    <a:pt x="157162" y="26194"/>
                  </a:cubicBezTo>
                  <a:cubicBezTo>
                    <a:pt x="173934" y="42965"/>
                    <a:pt x="183356" y="65713"/>
                    <a:pt x="183356" y="89431"/>
                  </a:cubicBezTo>
                  <a:lnTo>
                    <a:pt x="183356" y="235744"/>
                  </a:lnTo>
                  <a:lnTo>
                    <a:pt x="235744" y="235744"/>
                  </a:lnTo>
                  <a:lnTo>
                    <a:pt x="235744" y="89431"/>
                  </a:lnTo>
                  <a:cubicBezTo>
                    <a:pt x="235744" y="65713"/>
                    <a:pt x="245166" y="42965"/>
                    <a:pt x="261938" y="26194"/>
                  </a:cubicBezTo>
                  <a:cubicBezTo>
                    <a:pt x="278709" y="9422"/>
                    <a:pt x="301456" y="0"/>
                    <a:pt x="325174" y="0"/>
                  </a:cubicBezTo>
                  <a:lnTo>
                    <a:pt x="419100" y="0"/>
                  </a:lnTo>
                  <a:lnTo>
                    <a:pt x="419100" y="288131"/>
                  </a:lnTo>
                  <a:lnTo>
                    <a:pt x="288131" y="288131"/>
                  </a:lnTo>
                  <a:lnTo>
                    <a:pt x="235744" y="340519"/>
                  </a:lnTo>
                  <a:lnTo>
                    <a:pt x="183356" y="340519"/>
                  </a:lnTo>
                  <a:lnTo>
                    <a:pt x="130969" y="288131"/>
                  </a:lnTo>
                  <a:lnTo>
                    <a:pt x="0" y="288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1456" y="28727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과목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3742" y="3340418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공동교육과정으로 개설되는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3742" y="3626168"/>
              <a:ext cx="22272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1E3A8A"/>
                  </a:solidFill>
                  <a:latin typeface="Pretendard"/>
                  <a:ea typeface="Pretendard"/>
                  <a:cs typeface="Pretendard"/>
                </a:rPr>
                <a:t>「로봇 소프트웨어 개발」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3742" y="4026218"/>
              <a:ext cx="22309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여러 학교 학생이 함께 듣는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4311968"/>
              <a:ext cx="2821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심화 선택 과목으로, 소프트웨어로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3742" y="4597718"/>
              <a:ext cx="2539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로봇을 제어하는 방법을 배운다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19600" y="1809750"/>
            <a:ext cx="3352800" cy="3810000"/>
            <a:chOff x="4419600" y="1809750"/>
            <a:chExt cx="3352800" cy="3810000"/>
          </a:xfrm>
        </p:grpSpPr>
        <p:sp>
          <p:nvSpPr>
            <p:cNvPr id="16" name="Rectangle 16"/>
            <p:cNvSpPr/>
            <p:nvPr/>
          </p:nvSpPr>
          <p:spPr>
            <a:xfrm>
              <a:off x="4419600" y="1809750"/>
              <a:ext cx="3352800" cy="3810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19600" y="1809750"/>
              <a:ext cx="33528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724400" y="2171700"/>
              <a:ext cx="419100" cy="392906"/>
            </a:xfrm>
            <a:custGeom>
              <a:avLst/>
              <a:gdLst/>
              <a:ahLst/>
              <a:cxnLst/>
              <a:rect l="l" t="t" r="r" b="b"/>
              <a:pathLst>
                <a:path w="419100" h="392906">
                  <a:moveTo>
                    <a:pt x="235744" y="0"/>
                  </a:moveTo>
                  <a:lnTo>
                    <a:pt x="235744" y="52388"/>
                  </a:lnTo>
                  <a:lnTo>
                    <a:pt x="340519" y="52388"/>
                  </a:lnTo>
                  <a:lnTo>
                    <a:pt x="419100" y="222647"/>
                  </a:lnTo>
                  <a:lnTo>
                    <a:pt x="340519" y="392906"/>
                  </a:lnTo>
                  <a:lnTo>
                    <a:pt x="78581" y="392906"/>
                  </a:lnTo>
                  <a:lnTo>
                    <a:pt x="0" y="222647"/>
                  </a:lnTo>
                  <a:lnTo>
                    <a:pt x="78581" y="52388"/>
                  </a:lnTo>
                  <a:lnTo>
                    <a:pt x="183356" y="52388"/>
                  </a:lnTo>
                  <a:lnTo>
                    <a:pt x="183356" y="0"/>
                  </a:lnTo>
                  <a:lnTo>
                    <a:pt x="235744" y="0"/>
                  </a:lnTo>
                  <a:close/>
                  <a:moveTo>
                    <a:pt x="120437" y="307473"/>
                  </a:moveTo>
                  <a:lnTo>
                    <a:pt x="209550" y="321183"/>
                  </a:lnTo>
                  <a:lnTo>
                    <a:pt x="298664" y="307473"/>
                  </a:lnTo>
                  <a:lnTo>
                    <a:pt x="290696" y="255694"/>
                  </a:lnTo>
                  <a:lnTo>
                    <a:pt x="209550" y="268177"/>
                  </a:lnTo>
                  <a:lnTo>
                    <a:pt x="128403" y="255694"/>
                  </a:lnTo>
                  <a:lnTo>
                    <a:pt x="120437" y="307473"/>
                  </a:lnTo>
                  <a:close/>
                  <a:moveTo>
                    <a:pt x="183356" y="176808"/>
                  </a:moveTo>
                  <a:cubicBezTo>
                    <a:pt x="183356" y="194891"/>
                    <a:pt x="168697" y="209550"/>
                    <a:pt x="150614" y="209550"/>
                  </a:cubicBezTo>
                  <a:cubicBezTo>
                    <a:pt x="132531" y="209550"/>
                    <a:pt x="117872" y="194891"/>
                    <a:pt x="117872" y="176808"/>
                  </a:cubicBezTo>
                  <a:cubicBezTo>
                    <a:pt x="117872" y="158725"/>
                    <a:pt x="132531" y="144066"/>
                    <a:pt x="150614" y="144066"/>
                  </a:cubicBezTo>
                  <a:cubicBezTo>
                    <a:pt x="168697" y="144066"/>
                    <a:pt x="183356" y="158725"/>
                    <a:pt x="183356" y="176808"/>
                  </a:cubicBezTo>
                  <a:close/>
                  <a:moveTo>
                    <a:pt x="268486" y="209550"/>
                  </a:moveTo>
                  <a:cubicBezTo>
                    <a:pt x="286570" y="209550"/>
                    <a:pt x="301228" y="194891"/>
                    <a:pt x="301228" y="176808"/>
                  </a:cubicBezTo>
                  <a:cubicBezTo>
                    <a:pt x="301228" y="158725"/>
                    <a:pt x="286570" y="144066"/>
                    <a:pt x="268486" y="144066"/>
                  </a:cubicBezTo>
                  <a:cubicBezTo>
                    <a:pt x="250403" y="144066"/>
                    <a:pt x="235744" y="158725"/>
                    <a:pt x="235744" y="176808"/>
                  </a:cubicBezTo>
                  <a:cubicBezTo>
                    <a:pt x="235744" y="194891"/>
                    <a:pt x="250403" y="209550"/>
                    <a:pt x="268486" y="209550"/>
                  </a:cubicBezTo>
                  <a:close/>
                </a:path>
              </a:pathLst>
            </a:custGeom>
            <a:solidFill>
              <a:srgbClr val="F9731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15256" y="28727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교구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17542" y="3340418"/>
              <a:ext cx="2216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F97316"/>
                  </a:solidFill>
                  <a:latin typeface="Pretendard"/>
                  <a:ea typeface="Pretendard"/>
                  <a:cs typeface="Pretendard"/>
                </a:rPr>
                <a:t>XROBO Extreme X1 키트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17542" y="3740468"/>
              <a:ext cx="17899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DC 모터 2개 · 부저 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17542" y="4026218"/>
              <a:ext cx="2567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RF 리모컨 수신부를 갖춘 로봇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17542" y="4426268"/>
              <a:ext cx="2582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mBlock 5의 전용 확장 블록으로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17542" y="471201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프로그래밍해 업로드한다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53400" y="1809750"/>
            <a:ext cx="3352800" cy="3810000"/>
            <a:chOff x="8153400" y="1809750"/>
            <a:chExt cx="3352800" cy="3810000"/>
          </a:xfrm>
        </p:grpSpPr>
        <p:sp>
          <p:nvSpPr>
            <p:cNvPr id="26" name="Rectangle 26"/>
            <p:cNvSpPr/>
            <p:nvPr/>
          </p:nvSpPr>
          <p:spPr>
            <a:xfrm>
              <a:off x="8153400" y="1809750"/>
              <a:ext cx="3352800" cy="3810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53400" y="1809750"/>
              <a:ext cx="3352800" cy="571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458200" y="2171700"/>
              <a:ext cx="419100" cy="419100"/>
              <a:chOff x="8458200" y="2171700"/>
              <a:chExt cx="419100" cy="4191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562975" y="2276475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0"/>
                    </a:move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0"/>
                      <a:pt x="46909" y="209550"/>
                      <a:pt x="104775" y="209550"/>
                    </a:cubicBezTo>
                    <a:cubicBezTo>
                      <a:pt x="162640" y="209550"/>
                      <a:pt x="209550" y="162640"/>
                      <a:pt x="209550" y="104775"/>
                    </a:cubicBezTo>
                    <a:cubicBezTo>
                      <a:pt x="209550" y="46909"/>
                      <a:pt x="162640" y="0"/>
                      <a:pt x="104775" y="0"/>
                    </a:cubicBezTo>
                    <a:close/>
                    <a:moveTo>
                      <a:pt x="52388" y="104775"/>
                    </a:moveTo>
                    <a:cubicBezTo>
                      <a:pt x="52388" y="75842"/>
                      <a:pt x="75842" y="52388"/>
                      <a:pt x="104775" y="52388"/>
                    </a:cubicBezTo>
                    <a:cubicBezTo>
                      <a:pt x="133708" y="52388"/>
                      <a:pt x="157162" y="75842"/>
                      <a:pt x="157162" y="104775"/>
                    </a:cubicBezTo>
                    <a:cubicBezTo>
                      <a:pt x="157162" y="133708"/>
                      <a:pt x="133708" y="157162"/>
                      <a:pt x="104775" y="157162"/>
                    </a:cubicBezTo>
                    <a:cubicBezTo>
                      <a:pt x="75842" y="157162"/>
                      <a:pt x="52388" y="133708"/>
                      <a:pt x="52388" y="104775"/>
                    </a:cubicBezTo>
                    <a:close/>
                  </a:path>
                </a:pathLst>
              </a:custGeom>
              <a:solidFill>
                <a:srgbClr val="0E7490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458200" y="21717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>
                    <a:moveTo>
                      <a:pt x="209550" y="0"/>
                    </a:moveTo>
                    <a:cubicBezTo>
                      <a:pt x="93819" y="0"/>
                      <a:pt x="0" y="93819"/>
                      <a:pt x="0" y="209550"/>
                    </a:cubicBezTo>
                    <a:cubicBezTo>
                      <a:pt x="0" y="325282"/>
                      <a:pt x="93819" y="419100"/>
                      <a:pt x="209550" y="419100"/>
                    </a:cubicBezTo>
                    <a:cubicBezTo>
                      <a:pt x="325282" y="419100"/>
                      <a:pt x="419100" y="325282"/>
                      <a:pt x="419100" y="209550"/>
                    </a:cubicBezTo>
                    <a:cubicBezTo>
                      <a:pt x="419100" y="93819"/>
                      <a:pt x="325282" y="0"/>
                      <a:pt x="209550" y="0"/>
                    </a:cubicBezTo>
                    <a:close/>
                    <a:moveTo>
                      <a:pt x="52388" y="209550"/>
                    </a:moveTo>
                    <a:cubicBezTo>
                      <a:pt x="52388" y="122752"/>
                      <a:pt x="122752" y="52388"/>
                      <a:pt x="209550" y="52388"/>
                    </a:cubicBezTo>
                    <a:cubicBezTo>
                      <a:pt x="296348" y="52388"/>
                      <a:pt x="366712" y="122752"/>
                      <a:pt x="366712" y="209550"/>
                    </a:cubicBezTo>
                    <a:cubicBezTo>
                      <a:pt x="366712" y="296348"/>
                      <a:pt x="296348" y="366712"/>
                      <a:pt x="209550" y="366712"/>
                    </a:cubicBezTo>
                    <a:cubicBezTo>
                      <a:pt x="122752" y="366712"/>
                      <a:pt x="52388" y="296348"/>
                      <a:pt x="52388" y="209550"/>
                    </a:cubicBezTo>
                    <a:close/>
                  </a:path>
                </a:pathLst>
              </a:custGeom>
              <a:solidFill>
                <a:srgbClr val="0E7490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8449056" y="2872740"/>
              <a:ext cx="1366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오늘의 목표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51342" y="3340418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1. 3차시 예제 소스의 전체 구조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51342" y="3626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파악하기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51342" y="40262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2. 블록별 파라미터의 의미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51342" y="4311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설명하기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51342" y="4712018"/>
              <a:ext cx="2349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3. 제어 구조 4가지 찾아내기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9704" y="6324600"/>
            <a:ext cx="10832592" cy="390906"/>
            <a:chOff x="679704" y="6324600"/>
            <a:chExt cx="10832592" cy="390906"/>
          </a:xfrm>
        </p:grpSpPr>
        <p:sp>
          <p:nvSpPr>
            <p:cNvPr id="38" name="Line 38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9704" y="64808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로봇 소프트웨어 개발 · 공동교육과정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43989" y="6480810"/>
              <a:ext cx="1868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XROBO Extreme X1 · 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97218"/>
            <a:ext cx="10836402" cy="898207"/>
            <a:chOff x="669798" y="597218"/>
            <a:chExt cx="10836402" cy="8982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25642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FILE STRUCTURE · 파일 구조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7108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.mblock 파일 안에는 무엇이 있나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8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85800" y="1809750"/>
            <a:ext cx="5334000" cy="3143250"/>
            <a:chOff x="685800" y="1809750"/>
            <a:chExt cx="5334000" cy="314325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5334000" cy="3143250"/>
            </a:xfrm>
            <a:prstGeom prst="rect">
              <a:avLst/>
            </a:prstGeom>
            <a:solidFill>
              <a:srgbClr val="F3F4F6"/>
            </a:solidFill>
            <a:ln w="9525">
              <a:solidFill>
                <a:srgbClr val="E5E7EB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809750"/>
              <a:ext cx="38100" cy="314325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080" y="2105025"/>
              <a:ext cx="32294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E3A8A"/>
                  </a:solidFill>
                  <a:latin typeface="Consolas"/>
                  <a:ea typeface="Consolas"/>
                  <a:cs typeface="Consolas"/>
                </a:rPr>
                <a:t>XROBO_Extreme_X1_03.mblock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1842" y="2426018"/>
              <a:ext cx="2010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(정체는 ZIP 압축 파일)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1080" y="2867025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├─ project.json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1842" y="3188018"/>
              <a:ext cx="3614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│ 블록 코드가 JSON으로 저장된 진짜 소스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1080" y="3552825"/>
              <a:ext cx="1731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├─ mscratch.json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1842" y="3873818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│ 장치·확장·에디터 모드 정보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1080" y="4238625"/>
              <a:ext cx="31249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├─ *.svg (무대·스프라이트 그림)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1080" y="4581525"/>
              <a:ext cx="2246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└─ *.wav (효과음 자산)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544056" y="2072640"/>
            <a:ext cx="3530346" cy="2421255"/>
            <a:chOff x="6544056" y="2072640"/>
            <a:chExt cx="3530346" cy="2421255"/>
          </a:xfrm>
        </p:grpSpPr>
        <p:sp>
          <p:nvSpPr>
            <p:cNvPr id="17" name="TextBox 17"/>
            <p:cNvSpPr txBox="1"/>
            <p:nvPr/>
          </p:nvSpPr>
          <p:spPr>
            <a:xfrm>
              <a:off x="6544056" y="2072640"/>
              <a:ext cx="2613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읽는 방법 세 가지 사실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5580" y="2600325"/>
              <a:ext cx="3528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1. 확장자만 .mblock일 뿐 압축을 풀면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5580" y="2905125"/>
              <a:ext cx="2741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누구나 내부 파일을 볼 수 있다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5580" y="3400425"/>
              <a:ext cx="3528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2. 블록 하나하나가 project.json 안에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45580" y="3705225"/>
              <a:ext cx="2822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opcode와 파라미터로 기록된다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45580" y="4200525"/>
              <a:ext cx="3367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3. 로봇 블록은 별도 확장에서 나온다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53200" y="4667250"/>
            <a:ext cx="5013384" cy="438150"/>
            <a:chOff x="6553200" y="4667250"/>
            <a:chExt cx="5013384" cy="438150"/>
          </a:xfrm>
        </p:grpSpPr>
        <p:sp>
          <p:nvSpPr>
            <p:cNvPr id="24" name="Rectangle 24"/>
            <p:cNvSpPr/>
            <p:nvPr/>
          </p:nvSpPr>
          <p:spPr>
            <a:xfrm>
              <a:off x="6553200" y="4667250"/>
              <a:ext cx="2381250" cy="438150"/>
            </a:xfrm>
            <a:prstGeom prst="rect">
              <a:avLst/>
            </a:prstGeom>
            <a:solidFill>
              <a:srgbClr val="F3F4F6"/>
            </a:solidFill>
            <a:ln w="9525">
              <a:solidFill>
                <a:srgbClr val="E5E7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4942" y="4807268"/>
              <a:ext cx="26184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확장: xrobo_learnkit v0.2.2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124950" y="4667250"/>
              <a:ext cx="2381250" cy="438150"/>
            </a:xfrm>
            <a:prstGeom prst="rect">
              <a:avLst/>
            </a:prstGeom>
            <a:solidFill>
              <a:srgbClr val="F3F4F6"/>
            </a:solidFill>
            <a:ln w="9525">
              <a:solidFill>
                <a:srgbClr val="E5E7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46692" y="4807268"/>
              <a:ext cx="22198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모드: 업로드(Arduino C)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85800" y="5295900"/>
            <a:ext cx="10820400" cy="685800"/>
            <a:chOff x="685800" y="5295900"/>
            <a:chExt cx="108204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85800" y="5295900"/>
              <a:ext cx="10820400" cy="6858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5800" y="5295900"/>
              <a:ext cx="38100" cy="6858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2980" y="5553075"/>
              <a:ext cx="100718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업로드 모드에서는 블록이 Arduino C 코드로 변환되어 보드에 저장되므로, PC 없이도 로봇 단독으로 실행된다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9704" y="6324600"/>
            <a:ext cx="10832592" cy="390906"/>
            <a:chOff x="679704" y="6324600"/>
            <a:chExt cx="10832592" cy="390906"/>
          </a:xfrm>
        </p:grpSpPr>
        <p:sp>
          <p:nvSpPr>
            <p:cNvPr id="33" name="Line 33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9704" y="64808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로봇 소프트웨어 개발 · 공동교육과정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43989" y="6480810"/>
              <a:ext cx="1868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XROBO Extreme X1 ·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97218"/>
            <a:ext cx="10836402" cy="898207"/>
            <a:chOff x="669798" y="597218"/>
            <a:chExt cx="10836402" cy="8982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24029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PROGRAM MAP · 전체 지도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79989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프로그램은 두 덩어리로 되어 있다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8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52500" y="2190750"/>
            <a:ext cx="4191000" cy="2571750"/>
            <a:chOff x="952500" y="2190750"/>
            <a:chExt cx="4191000" cy="2571750"/>
          </a:xfrm>
        </p:grpSpPr>
        <p:sp>
          <p:nvSpPr>
            <p:cNvPr id="6" name="Rectangle 6"/>
            <p:cNvSpPr/>
            <p:nvPr/>
          </p:nvSpPr>
          <p:spPr>
            <a:xfrm>
              <a:off x="952500" y="2190750"/>
              <a:ext cx="4191000" cy="25717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E3A8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46632" y="2497455"/>
              <a:ext cx="18914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E3A8A"/>
                  </a:solidFill>
                  <a:latin typeface="Pretendard"/>
                  <a:ea typeface="Pretendard"/>
                  <a:cs typeface="Pretendard"/>
                </a:rPr>
                <a:t>메인 스크립트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49680" y="2981325"/>
              <a:ext cx="26201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시작 → 초기 설정 → 무한 반복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49680" y="3381375"/>
              <a:ext cx="2923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전진·후진·멜로디를 되풀이하는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9680" y="36861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자동 시연 루프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50442" y="4216718"/>
              <a:ext cx="2848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매 바퀴 시작마다 함수를 10번 호출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048500" y="2190750"/>
            <a:ext cx="4191000" cy="2571750"/>
            <a:chOff x="7048500" y="2190750"/>
            <a:chExt cx="4191000" cy="2571750"/>
          </a:xfrm>
        </p:grpSpPr>
        <p:sp>
          <p:nvSpPr>
            <p:cNvPr id="13" name="Rectangle 13"/>
            <p:cNvSpPr/>
            <p:nvPr/>
          </p:nvSpPr>
          <p:spPr>
            <a:xfrm>
              <a:off x="7048500" y="2190750"/>
              <a:ext cx="4191000" cy="25717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E749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42632" y="2497455"/>
              <a:ext cx="34646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함수 「엑스쿠터 컨트롤」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45680" y="2981325"/>
              <a:ext cx="2532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리모컨 값(A6)을 확인해서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45680" y="3286125"/>
              <a:ext cx="2791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1번이 눌리면 내부 무한 루프의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45680" y="3686175"/>
              <a:ext cx="2326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리모컨 제어 모드로 전환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46442" y="4216718"/>
              <a:ext cx="3194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F97316"/>
                  </a:solidFill>
                  <a:latin typeface="Pretendard"/>
                  <a:ea typeface="Pretendard"/>
                  <a:cs typeface="Pretendard"/>
                </a:rPr>
                <a:t>한 번 들어가면 메인으로 복귀하지 않음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43500" y="2826068"/>
            <a:ext cx="2162844" cy="1578483"/>
            <a:chOff x="5143500" y="2826068"/>
            <a:chExt cx="2162844" cy="1578483"/>
          </a:xfrm>
        </p:grpSpPr>
        <p:sp>
          <p:nvSpPr>
            <p:cNvPr id="20" name="Line 20"/>
            <p:cNvSpPr/>
            <p:nvPr/>
          </p:nvSpPr>
          <p:spPr>
            <a:xfrm>
              <a:off x="5143500" y="3143250"/>
              <a:ext cx="1828800" cy="9525"/>
            </a:xfrm>
            <a:custGeom>
              <a:avLst/>
              <a:gdLst/>
              <a:ahLst/>
              <a:cxnLst/>
              <a:rect l="l" t="t" r="r" b="b"/>
              <a:pathLst>
                <a:path w="1828800" h="9525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noFill/>
            <a:ln w="28575">
              <a:solidFill>
                <a:srgbClr val="1E3A8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819900" y="30670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327142" y="2826068"/>
              <a:ext cx="1979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1E3A8A"/>
                  </a:solidFill>
                  <a:latin typeface="Pretendard"/>
                  <a:ea typeface="Pretendard"/>
                  <a:cs typeface="Pretendard"/>
                </a:rPr>
                <a:t>호출 (0.2초 간격 ×10)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219700" y="4000500"/>
              <a:ext cx="1828800" cy="9525"/>
            </a:xfrm>
            <a:custGeom>
              <a:avLst/>
              <a:gdLst/>
              <a:ahLst/>
              <a:cxnLst/>
              <a:rect l="l" t="t" r="r" b="b"/>
              <a:pathLst>
                <a:path w="1828800" h="9525">
                  <a:moveTo>
                    <a:pt x="18288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97316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219700" y="3924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lnTo>
                    <a:pt x="152400" y="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F973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384292" y="4140518"/>
              <a:ext cx="19089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F97316"/>
                  </a:solidFill>
                  <a:latin typeface="Pretendard"/>
                  <a:ea typeface="Pretendard"/>
                  <a:cs typeface="Pretendard"/>
                </a:rPr>
                <a:t>A6 ≠ 1이면 즉시 복귀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41832" y="5297805"/>
            <a:ext cx="10054430" cy="410718"/>
            <a:chOff x="941832" y="5297805"/>
            <a:chExt cx="10054430" cy="410718"/>
          </a:xfrm>
        </p:grpSpPr>
        <p:sp>
          <p:nvSpPr>
            <p:cNvPr id="27" name="TextBox 27"/>
            <p:cNvSpPr txBox="1"/>
            <p:nvPr/>
          </p:nvSpPr>
          <p:spPr>
            <a:xfrm>
              <a:off x="941832" y="5297805"/>
              <a:ext cx="100544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리모컨 1번 버튼이 눌리는 순간, 프로그램의 주도권이 함수 안으로 넘어간다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9704" y="6324600"/>
            <a:ext cx="10832592" cy="390906"/>
            <a:chOff x="679704" y="6324600"/>
            <a:chExt cx="10832592" cy="390906"/>
          </a:xfrm>
        </p:grpSpPr>
        <p:sp>
          <p:nvSpPr>
            <p:cNvPr id="29" name="Line 29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9704" y="64808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로봇 소프트웨어 개발 · 공동교육과정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43989" y="6480810"/>
              <a:ext cx="1868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XROBO Extreme X1 ·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97218"/>
            <a:ext cx="10836402" cy="898207"/>
            <a:chOff x="669798" y="597218"/>
            <a:chExt cx="10836402" cy="8982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2644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HARDWARE · 하드웨어와 블록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4882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이 소스가 제어하는 세 가지 장치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8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85800" y="1752600"/>
            <a:ext cx="10820400" cy="495300"/>
            <a:chOff x="685800" y="1752600"/>
            <a:chExt cx="10820400" cy="495300"/>
          </a:xfrm>
        </p:grpSpPr>
        <p:sp>
          <p:nvSpPr>
            <p:cNvPr id="6" name="Rectangle 6"/>
            <p:cNvSpPr/>
            <p:nvPr/>
          </p:nvSpPr>
          <p:spPr>
            <a:xfrm>
              <a:off x="685800" y="1752600"/>
              <a:ext cx="10820400" cy="4953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2980" y="19145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21380" y="1914525"/>
              <a:ext cx="20506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소스에 등장하는 블록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02880" y="1914525"/>
              <a:ext cx="15630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파라미터의 의미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" y="2247900"/>
            <a:ext cx="10820400" cy="1295400"/>
            <a:chOff x="685800" y="2247900"/>
            <a:chExt cx="10820400" cy="1295400"/>
          </a:xfrm>
        </p:grpSpPr>
        <p:sp>
          <p:nvSpPr>
            <p:cNvPr id="11" name="Rectangle 11"/>
            <p:cNvSpPr/>
            <p:nvPr/>
          </p:nvSpPr>
          <p:spPr>
            <a:xfrm>
              <a:off x="685800" y="2247900"/>
              <a:ext cx="10820400" cy="1295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33462" y="2590800"/>
              <a:ext cx="257175" cy="342900"/>
            </a:xfrm>
            <a:custGeom>
              <a:avLst/>
              <a:gdLst/>
              <a:ahLst/>
              <a:cxnLst/>
              <a:rect l="l" t="t" r="r" b="b"/>
              <a:pathLst>
                <a:path w="257175" h="342900">
                  <a:moveTo>
                    <a:pt x="150019" y="150019"/>
                  </a:moveTo>
                  <a:lnTo>
                    <a:pt x="171450" y="0"/>
                  </a:lnTo>
                  <a:lnTo>
                    <a:pt x="128588" y="0"/>
                  </a:lnTo>
                  <a:lnTo>
                    <a:pt x="0" y="150019"/>
                  </a:lnTo>
                  <a:lnTo>
                    <a:pt x="0" y="192881"/>
                  </a:lnTo>
                  <a:lnTo>
                    <a:pt x="107156" y="192881"/>
                  </a:lnTo>
                  <a:lnTo>
                    <a:pt x="85725" y="342900"/>
                  </a:lnTo>
                  <a:lnTo>
                    <a:pt x="128588" y="342900"/>
                  </a:lnTo>
                  <a:lnTo>
                    <a:pt x="257175" y="192881"/>
                  </a:lnTo>
                  <a:lnTo>
                    <a:pt x="257175" y="150019"/>
                  </a:lnTo>
                  <a:lnTo>
                    <a:pt x="150019" y="150019"/>
                  </a:lnTo>
                  <a:close/>
                </a:path>
              </a:pathLst>
            </a:custGeom>
            <a:solidFill>
              <a:srgbClr val="F9731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78280" y="2581275"/>
              <a:ext cx="1191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DC 모터 2개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79042" y="2883218"/>
              <a:ext cx="1749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(왼쪽 · 오른쪽 바퀴)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2142" y="2559368"/>
              <a:ext cx="2409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모터 좌 O 우 O (O ms 동안)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22142" y="2864168"/>
              <a:ext cx="1953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모터 좌 O 우 O (계속)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03642" y="2559368"/>
              <a:ext cx="2349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좌·우 속도와 지속 시간(ms)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03642" y="2864168"/>
              <a:ext cx="249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속도의 부호(+/-)가 회전 방향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5800" y="3543300"/>
            <a:ext cx="10820400" cy="1295400"/>
            <a:chOff x="685800" y="3543300"/>
            <a:chExt cx="10820400" cy="1295400"/>
          </a:xfrm>
        </p:grpSpPr>
        <p:sp>
          <p:nvSpPr>
            <p:cNvPr id="20" name="Rectangle 20"/>
            <p:cNvSpPr/>
            <p:nvPr/>
          </p:nvSpPr>
          <p:spPr>
            <a:xfrm>
              <a:off x="685800" y="3543300"/>
              <a:ext cx="10820400" cy="1295400"/>
            </a:xfrm>
            <a:prstGeom prst="rect">
              <a:avLst/>
            </a:prstGeom>
            <a:solidFill>
              <a:srgbClr val="F3F4F6"/>
            </a:solidFill>
            <a:ln w="9525">
              <a:solidFill>
                <a:srgbClr val="E5E7EB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90600" y="3907631"/>
              <a:ext cx="321469" cy="300038"/>
            </a:xfrm>
            <a:custGeom>
              <a:avLst/>
              <a:gdLst/>
              <a:ahLst/>
              <a:cxnLst/>
              <a:rect l="l" t="t" r="r" b="b"/>
              <a:pathLst>
                <a:path w="321469" h="300038">
                  <a:moveTo>
                    <a:pt x="321469" y="0"/>
                  </a:moveTo>
                  <a:lnTo>
                    <a:pt x="85725" y="0"/>
                  </a:lnTo>
                  <a:lnTo>
                    <a:pt x="85725" y="171450"/>
                  </a:lnTo>
                  <a:lnTo>
                    <a:pt x="64294" y="171450"/>
                  </a:lnTo>
                  <a:cubicBezTo>
                    <a:pt x="28785" y="171450"/>
                    <a:pt x="0" y="200234"/>
                    <a:pt x="0" y="235744"/>
                  </a:cubicBezTo>
                  <a:cubicBezTo>
                    <a:pt x="0" y="271253"/>
                    <a:pt x="28785" y="300038"/>
                    <a:pt x="64294" y="300038"/>
                  </a:cubicBezTo>
                  <a:cubicBezTo>
                    <a:pt x="99802" y="300038"/>
                    <a:pt x="128588" y="271253"/>
                    <a:pt x="128588" y="235744"/>
                  </a:cubicBezTo>
                  <a:lnTo>
                    <a:pt x="128588" y="85725"/>
                  </a:lnTo>
                  <a:lnTo>
                    <a:pt x="278606" y="85725"/>
                  </a:lnTo>
                  <a:lnTo>
                    <a:pt x="278606" y="171450"/>
                  </a:lnTo>
                  <a:lnTo>
                    <a:pt x="257175" y="171450"/>
                  </a:lnTo>
                  <a:cubicBezTo>
                    <a:pt x="221666" y="171450"/>
                    <a:pt x="192881" y="200234"/>
                    <a:pt x="192881" y="235744"/>
                  </a:cubicBezTo>
                  <a:cubicBezTo>
                    <a:pt x="192881" y="271253"/>
                    <a:pt x="221666" y="300038"/>
                    <a:pt x="257175" y="300038"/>
                  </a:cubicBezTo>
                  <a:cubicBezTo>
                    <a:pt x="292684" y="300038"/>
                    <a:pt x="321469" y="271253"/>
                    <a:pt x="321469" y="235744"/>
                  </a:cubicBezTo>
                  <a:lnTo>
                    <a:pt x="321469" y="0"/>
                  </a:lnTo>
                  <a:close/>
                </a:path>
              </a:pathLst>
            </a:custGeom>
            <a:solidFill>
              <a:srgbClr val="0E749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78280" y="38766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부저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79042" y="4178618"/>
              <a:ext cx="995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(소리 출력)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22142" y="3854768"/>
              <a:ext cx="18731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소리 O Hz, O ms 재생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22142" y="4159568"/>
              <a:ext cx="1115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후 O ms 쉬기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03642" y="3854768"/>
              <a:ext cx="2134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주파수(Hz)가 음의 높이,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3642" y="4159568"/>
              <a:ext cx="2458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재생·쉼 시간이 리듬을 만든다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5800" y="4838700"/>
            <a:ext cx="10820400" cy="1295400"/>
            <a:chOff x="685800" y="4838700"/>
            <a:chExt cx="10820400" cy="1295400"/>
          </a:xfrm>
        </p:grpSpPr>
        <p:sp>
          <p:nvSpPr>
            <p:cNvPr id="29" name="Rectangle 29"/>
            <p:cNvSpPr/>
            <p:nvPr/>
          </p:nvSpPr>
          <p:spPr>
            <a:xfrm>
              <a:off x="685800" y="4838700"/>
              <a:ext cx="10820400" cy="1295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012031" y="5203031"/>
              <a:ext cx="300037" cy="300038"/>
              <a:chOff x="1012031" y="5203031"/>
              <a:chExt cx="300037" cy="30003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269206" y="5203031"/>
                <a:ext cx="42862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300038">
                    <a:moveTo>
                      <a:pt x="0" y="0"/>
                    </a:moveTo>
                    <a:lnTo>
                      <a:pt x="0" y="300038"/>
                    </a:lnTo>
                    <a:lnTo>
                      <a:pt x="42862" y="300038"/>
                    </a:lnTo>
                    <a:lnTo>
                      <a:pt x="4286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3A8A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83481" y="5267325"/>
                <a:ext cx="42862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235744">
                    <a:moveTo>
                      <a:pt x="0" y="0"/>
                    </a:moveTo>
                    <a:lnTo>
                      <a:pt x="0" y="235744"/>
                    </a:lnTo>
                    <a:lnTo>
                      <a:pt x="42862" y="235744"/>
                    </a:lnTo>
                    <a:lnTo>
                      <a:pt x="4286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3A8A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97756" y="5331619"/>
                <a:ext cx="42862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171450">
                    <a:moveTo>
                      <a:pt x="0" y="171450"/>
                    </a:moveTo>
                    <a:lnTo>
                      <a:pt x="0" y="0"/>
                    </a:lnTo>
                    <a:lnTo>
                      <a:pt x="42862" y="0"/>
                    </a:lnTo>
                    <a:lnTo>
                      <a:pt x="42862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rgbClr val="1E3A8A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12031" y="5395912"/>
                <a:ext cx="42862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107156">
                    <a:moveTo>
                      <a:pt x="0" y="0"/>
                    </a:moveTo>
                    <a:lnTo>
                      <a:pt x="0" y="107156"/>
                    </a:lnTo>
                    <a:lnTo>
                      <a:pt x="42862" y="107156"/>
                    </a:lnTo>
                    <a:lnTo>
                      <a:pt x="4286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3A8A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478280" y="5172075"/>
              <a:ext cx="15162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RF 리모컨 수신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79042" y="5474018"/>
              <a:ext cx="995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(입력 장치)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22142" y="5150168"/>
              <a:ext cx="21739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리모컨 수신값(A6) = O ?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22142" y="545496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(조건 블록에서 비교)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03642" y="5150168"/>
              <a:ext cx="23756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A6 채널로 들어온 버튼 값을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3642" y="5454968"/>
              <a:ext cx="2349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1 · 2 · 5 등 숫자와 비교한다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9704" y="6324600"/>
            <a:ext cx="10832592" cy="390906"/>
            <a:chOff x="679704" y="6324600"/>
            <a:chExt cx="10832592" cy="390906"/>
          </a:xfrm>
        </p:grpSpPr>
        <p:sp>
          <p:nvSpPr>
            <p:cNvPr id="42" name="Line 42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9704" y="64808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로봇 소프트웨어 개발 · 공동교육과정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43989" y="6480810"/>
              <a:ext cx="1868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XROBO Extreme X1 ·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97218"/>
            <a:ext cx="10836402" cy="898207"/>
            <a:chOff x="669798" y="597218"/>
            <a:chExt cx="10836402" cy="8982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32195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CODE READING 1 · 시작과 초기 설정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0188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두 줄로 끝나는 준비 단계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8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85800" y="1809750"/>
            <a:ext cx="4953000" cy="1905000"/>
            <a:chOff x="685800" y="1809750"/>
            <a:chExt cx="4953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4953000" cy="1905000"/>
            </a:xfrm>
            <a:prstGeom prst="rect">
              <a:avLst/>
            </a:prstGeom>
            <a:solidFill>
              <a:srgbClr val="F3F4F6"/>
            </a:solidFill>
            <a:ln w="9525">
              <a:solidFill>
                <a:srgbClr val="E5E7EB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809750"/>
              <a:ext cx="38100" cy="19050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080" y="2124075"/>
              <a:ext cx="2326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E3A8A"/>
                  </a:solidFill>
                  <a:latin typeface="Consolas"/>
                  <a:ea typeface="Microsoft YaHei"/>
                  <a:cs typeface="Consolas"/>
                </a:rPr>
                <a:t>시작 버튼을 클릭했을 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1842" y="2445068"/>
              <a:ext cx="1732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(RF 자동 연결 = 켬)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1080" y="2886075"/>
              <a:ext cx="2408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0번 핀 값을 20으로 정하기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1842" y="3207068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(초기 상태 설정)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0" y="1809750"/>
            <a:ext cx="5410200" cy="1905000"/>
            <a:chOff x="6096000" y="1809750"/>
            <a:chExt cx="54102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096000" y="1809750"/>
              <a:ext cx="5410200" cy="1905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0" y="1809750"/>
              <a:ext cx="5410200" cy="5715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91656" y="2091690"/>
              <a:ext cx="35167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시작 블록 — 프로그램의 진입점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3180" y="2543175"/>
              <a:ext cx="37632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JSON에는 rfauto = 1 로 기록되어 있다.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93180" y="2847975"/>
              <a:ext cx="3493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전원이 켜지면 RF 수신기가 리모컨과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93180" y="3152775"/>
              <a:ext cx="3801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자동으로 짝을 맺도록 준비하는 옵션이다.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5800" y="4000500"/>
            <a:ext cx="10820400" cy="1714500"/>
            <a:chOff x="685800" y="4000500"/>
            <a:chExt cx="10820400" cy="1714500"/>
          </a:xfrm>
        </p:grpSpPr>
        <p:sp>
          <p:nvSpPr>
            <p:cNvPr id="20" name="Rectangle 20"/>
            <p:cNvSpPr/>
            <p:nvPr/>
          </p:nvSpPr>
          <p:spPr>
            <a:xfrm>
              <a:off x="685800" y="4000500"/>
              <a:ext cx="10820400" cy="1714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" y="4000500"/>
              <a:ext cx="108204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1456" y="4282440"/>
              <a:ext cx="33386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설정 블록 — pin = 0, val = 20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2980" y="4733925"/>
              <a:ext cx="7759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확장 팔레트의 설정 블록으로, 0번 포트 장치에 초기값 20을 준다. 본격적인 동작 전에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2980" y="5038725"/>
              <a:ext cx="98822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장치를 기준 상태로 맞춰 두는 초기화 관례다. 정확한 블록 이름은 mBlock의 XROBO 팔레트에서 확인하자.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9704" y="6324600"/>
            <a:ext cx="10832592" cy="390906"/>
            <a:chOff x="679704" y="6324600"/>
            <a:chExt cx="10832592" cy="390906"/>
          </a:xfrm>
        </p:grpSpPr>
        <p:sp>
          <p:nvSpPr>
            <p:cNvPr id="26" name="Line 26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9704" y="64808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로봇 소프트웨어 개발 · 공동교육과정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43989" y="6480810"/>
              <a:ext cx="1868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XROBO Extreme X1 · 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97218"/>
            <a:ext cx="10836402" cy="898207"/>
            <a:chOff x="669798" y="597218"/>
            <a:chExt cx="10836402" cy="8982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2554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CODE READING 2 · 메인 루프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45736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무한 반복 안의 네 단계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8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85800" y="1809750"/>
            <a:ext cx="4953000" cy="4191000"/>
            <a:chOff x="685800" y="1809750"/>
            <a:chExt cx="4953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4953000" cy="4191000"/>
            </a:xfrm>
            <a:prstGeom prst="rect">
              <a:avLst/>
            </a:prstGeom>
            <a:solidFill>
              <a:srgbClr val="F3F4F6"/>
            </a:solidFill>
            <a:ln w="9525">
              <a:solidFill>
                <a:srgbClr val="E5E7EB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809750"/>
              <a:ext cx="38100" cy="41910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080" y="2105025"/>
              <a:ext cx="1351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E3A8A"/>
                  </a:solidFill>
                  <a:latin typeface="Consolas"/>
                  <a:ea typeface="Microsoft YaHei"/>
                  <a:cs typeface="Consolas"/>
                </a:rPr>
                <a:t>무한 반복하기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1080" y="2486025"/>
              <a:ext cx="1372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0E7490"/>
                  </a:solidFill>
                  <a:latin typeface="Consolas"/>
                  <a:ea typeface="Microsoft YaHei"/>
                  <a:cs typeface="Consolas"/>
                </a:rPr>
                <a:t>10번 반복하기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1080" y="2790825"/>
              <a:ext cx="2175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엑스쿠터 컨트롤 (호출)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1080" y="3095625"/>
              <a:ext cx="1418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0.2초 기다리기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1080" y="3552825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모터 좌 10 우 10 (1000ms)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1080" y="3857625"/>
              <a:ext cx="1418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0.5초 기다리기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1080" y="4238625"/>
              <a:ext cx="2721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모터 좌 -10 우 -10 (1000ms)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1080" y="4543425"/>
              <a:ext cx="1418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0.5초 기다리기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1080" y="5000625"/>
              <a:ext cx="22566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소리 523·587·659·587·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1080" y="530542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523·587·659 (7음 연주)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0" y="1809750"/>
            <a:ext cx="5410200" cy="952500"/>
            <a:chOff x="6096000" y="1809750"/>
            <a:chExt cx="5410200" cy="952500"/>
          </a:xfrm>
        </p:grpSpPr>
        <p:sp>
          <p:nvSpPr>
            <p:cNvPr id="19" name="Rectangle 19"/>
            <p:cNvSpPr/>
            <p:nvPr/>
          </p:nvSpPr>
          <p:spPr>
            <a:xfrm>
              <a:off x="6096000" y="1809750"/>
              <a:ext cx="5410200" cy="952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93180" y="2028825"/>
              <a:ext cx="2654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E3A8A"/>
                  </a:solidFill>
                  <a:latin typeface="Pretendard"/>
                  <a:ea typeface="Pretendard"/>
                  <a:cs typeface="Pretendard"/>
                </a:rPr>
                <a:t>① 리모컨 감지 구간 — 약 2초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93942" y="2368868"/>
              <a:ext cx="3948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함수 호출 + 0.2초 대기를 10번 = 폴링 (다음 장)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0" y="2895600"/>
            <a:ext cx="5410200" cy="952500"/>
            <a:chOff x="6096000" y="2895600"/>
            <a:chExt cx="54102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96000" y="2895600"/>
              <a:ext cx="5410200" cy="952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93180" y="3114675"/>
              <a:ext cx="2305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E3A8A"/>
                  </a:solidFill>
                  <a:latin typeface="Pretendard"/>
                  <a:ea typeface="Pretendard"/>
                  <a:cs typeface="Pretendard"/>
                </a:rPr>
                <a:t>② 전진 1초 → 0.5초 정지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93942" y="3454718"/>
              <a:ext cx="3239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좌·우 모두 +10, 1000ms 동안 굴러간다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0" y="3981450"/>
            <a:ext cx="5410200" cy="952500"/>
            <a:chOff x="6096000" y="3981450"/>
            <a:chExt cx="5410200" cy="952500"/>
          </a:xfrm>
        </p:grpSpPr>
        <p:sp>
          <p:nvSpPr>
            <p:cNvPr id="27" name="Rectangle 27"/>
            <p:cNvSpPr/>
            <p:nvPr/>
          </p:nvSpPr>
          <p:spPr>
            <a:xfrm>
              <a:off x="6096000" y="3981450"/>
              <a:ext cx="5410200" cy="952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93180" y="4200525"/>
              <a:ext cx="2305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E3A8A"/>
                  </a:solidFill>
                  <a:latin typeface="Pretendard"/>
                  <a:ea typeface="Pretendard"/>
                  <a:cs typeface="Pretendard"/>
                </a:rPr>
                <a:t>③ 후진 1초 → 0.5초 정지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93942" y="4540568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부호만 바꾼 -10, -10 — 제자리로 돌아온다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0" y="5067300"/>
            <a:ext cx="5410200" cy="952500"/>
            <a:chOff x="6096000" y="5067300"/>
            <a:chExt cx="5410200" cy="952500"/>
          </a:xfrm>
        </p:grpSpPr>
        <p:sp>
          <p:nvSpPr>
            <p:cNvPr id="31" name="Rectangle 31"/>
            <p:cNvSpPr/>
            <p:nvPr/>
          </p:nvSpPr>
          <p:spPr>
            <a:xfrm>
              <a:off x="6096000" y="5067300"/>
              <a:ext cx="5410200" cy="952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93180" y="52863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97316"/>
                  </a:solidFill>
                  <a:latin typeface="Pretendard"/>
                  <a:ea typeface="Pretendard"/>
                  <a:cs typeface="Pretendard"/>
                </a:rPr>
                <a:t>④ 멜로디 7음 연주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93942" y="5626418"/>
              <a:ext cx="3848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도5 레5 미5 레5 도5 레5 미5 — 그리고 처음으로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79704" y="6324600"/>
            <a:ext cx="10832592" cy="390906"/>
            <a:chOff x="679704" y="6324600"/>
            <a:chExt cx="10832592" cy="390906"/>
          </a:xfrm>
        </p:grpSpPr>
        <p:sp>
          <p:nvSpPr>
            <p:cNvPr id="35" name="Line 35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9704" y="64808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로봇 소프트웨어 개발 · 공동교육과정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43989" y="6480810"/>
              <a:ext cx="1868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XROBO Extreme X1 ·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97218"/>
            <a:ext cx="10836402" cy="898207"/>
            <a:chOff x="669798" y="597218"/>
            <a:chExt cx="10836402" cy="8982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2318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CONCEPT · 폴링 (Polling)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26558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10번 반복해서 리모컨을 살핀다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8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964055"/>
            <a:ext cx="9549807" cy="410718"/>
            <a:chOff x="675132" y="1964055"/>
            <a:chExt cx="954980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964055"/>
              <a:ext cx="95498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입력을 기다리는 게 아니라, 일정한 간격으로 계속 확인하는 방식 — 폴링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43000" y="3054668"/>
            <a:ext cx="9906000" cy="1254633"/>
            <a:chOff x="1143000" y="3054668"/>
            <a:chExt cx="9906000" cy="1254633"/>
          </a:xfrm>
        </p:grpSpPr>
        <p:sp>
          <p:nvSpPr>
            <p:cNvPr id="8" name="Line 8"/>
            <p:cNvSpPr/>
            <p:nvPr/>
          </p:nvSpPr>
          <p:spPr>
            <a:xfrm>
              <a:off x="1143000" y="3619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28575">
              <a:solidFill>
                <a:srgbClr val="1E3A8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143000" y="3390900"/>
              <a:ext cx="76200" cy="4572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124075" y="3390900"/>
              <a:ext cx="76200" cy="4572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105150" y="3390900"/>
              <a:ext cx="76200" cy="4572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086225" y="3390900"/>
              <a:ext cx="76200" cy="4572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067300" y="3390900"/>
              <a:ext cx="76200" cy="4572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48375" y="3390900"/>
              <a:ext cx="76200" cy="4572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029450" y="3390900"/>
              <a:ext cx="76200" cy="4572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010525" y="3390900"/>
              <a:ext cx="76200" cy="4572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991600" y="3390900"/>
              <a:ext cx="76200" cy="4572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9972675" y="3390900"/>
              <a:ext cx="76200" cy="4572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4242" y="3054668"/>
              <a:ext cx="5575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1E3A8A"/>
                  </a:solidFill>
                  <a:latin typeface="Pretendard"/>
                  <a:ea typeface="Pretendard"/>
                  <a:cs typeface="Pretendard"/>
                </a:rPr>
                <a:t>호출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56292" y="3054668"/>
              <a:ext cx="6625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F97316"/>
                  </a:solidFill>
                  <a:latin typeface="Pretendard"/>
                  <a:ea typeface="Pretendard"/>
                  <a:cs typeface="Pretendard"/>
                </a:rPr>
                <a:t>호출 10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40942" y="4045268"/>
              <a:ext cx="5029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← 호출과 호출 사이 0.2초 기다리기 → 전체 감지 구간은 약 2초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8180" y="4791075"/>
            <a:ext cx="9413748" cy="636270"/>
            <a:chOff x="678180" y="4791075"/>
            <a:chExt cx="9413748" cy="636270"/>
          </a:xfrm>
        </p:grpSpPr>
        <p:sp>
          <p:nvSpPr>
            <p:cNvPr id="23" name="TextBox 23"/>
            <p:cNvSpPr txBox="1"/>
            <p:nvPr/>
          </p:nvSpPr>
          <p:spPr>
            <a:xfrm>
              <a:off x="678180" y="4791075"/>
              <a:ext cx="9413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매 호출마다 함수가 리모컨 수신값(A6)을 한 번 확인한다. 값이 1이 아니면 아무 일 없이 돌아오고,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8180" y="5133975"/>
              <a:ext cx="7971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1이면 그 순간 리모컨 제어 모드로 넘어간다. 이 2초가 자동 시연 중 유일한 탈출 기회다.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5600700"/>
            <a:ext cx="5196813" cy="438150"/>
            <a:chOff x="685800" y="5600700"/>
            <a:chExt cx="5196813" cy="438150"/>
          </a:xfrm>
        </p:grpSpPr>
        <p:sp>
          <p:nvSpPr>
            <p:cNvPr id="26" name="Rectangle 26"/>
            <p:cNvSpPr/>
            <p:nvPr/>
          </p:nvSpPr>
          <p:spPr>
            <a:xfrm>
              <a:off x="685800" y="5600700"/>
              <a:ext cx="4953000" cy="43815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5800" y="5600700"/>
              <a:ext cx="38100" cy="4381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5642" y="5740718"/>
              <a:ext cx="4936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용어 · 폴링 = 주기적으로 상태를 조사하는 입력 처리 방식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9704" y="6324600"/>
            <a:ext cx="10832592" cy="390906"/>
            <a:chOff x="679704" y="6324600"/>
            <a:chExt cx="10832592" cy="390906"/>
          </a:xfrm>
        </p:grpSpPr>
        <p:sp>
          <p:nvSpPr>
            <p:cNvPr id="30" name="Line 30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9704" y="64808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로봇 소프트웨어 개발 · 공동교육과정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43989" y="6480810"/>
              <a:ext cx="1868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XROBO Extreme X1 ·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97218"/>
            <a:ext cx="10836402" cy="898207"/>
            <a:chOff x="669798" y="597218"/>
            <a:chExt cx="10836402" cy="8982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2554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CODE READING 3 · 모터 제어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3305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속도의 부호가 곧 방향이다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8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85800" y="1809750"/>
            <a:ext cx="5257800" cy="2095500"/>
            <a:chOff x="685800" y="1809750"/>
            <a:chExt cx="5257800" cy="20955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5257800" cy="2095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809750"/>
              <a:ext cx="5257800" cy="5715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85850" y="2152650"/>
              <a:ext cx="190500" cy="304800"/>
            </a:xfrm>
            <a:custGeom>
              <a:avLst/>
              <a:gdLst/>
              <a:ahLst/>
              <a:cxnLst/>
              <a:rect l="l" t="t" r="r" b="b"/>
              <a:pathLst>
                <a:path w="190500" h="304800">
                  <a:moveTo>
                    <a:pt x="0" y="304800"/>
                  </a:moveTo>
                  <a:lnTo>
                    <a:pt x="38100" y="304800"/>
                  </a:lnTo>
                  <a:lnTo>
                    <a:pt x="190500" y="152400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38656" y="21869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전진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2980" y="2733675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모터 좌 10 우 10 (1000ms)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3742" y="31308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양쪽 모두 +10 → 같은 방향, 같은 힘 → 직진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3742" y="3435668"/>
              <a:ext cx="3121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1000ms = 정확히 1초 동안만 굴러간다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48400" y="1809750"/>
            <a:ext cx="5257800" cy="2095500"/>
            <a:chOff x="6248400" y="1809750"/>
            <a:chExt cx="5257800" cy="2095500"/>
          </a:xfrm>
        </p:grpSpPr>
        <p:sp>
          <p:nvSpPr>
            <p:cNvPr id="14" name="Rectangle 14"/>
            <p:cNvSpPr/>
            <p:nvPr/>
          </p:nvSpPr>
          <p:spPr>
            <a:xfrm>
              <a:off x="6248400" y="1809750"/>
              <a:ext cx="5257800" cy="2095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48400" y="1809750"/>
              <a:ext cx="52578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6591300" y="2171700"/>
              <a:ext cx="228600" cy="266700"/>
            </a:xfrm>
            <a:custGeom>
              <a:avLst/>
              <a:gdLst/>
              <a:ahLst/>
              <a:cxnLst/>
              <a:rect l="l" t="t" r="r" b="b"/>
              <a:pathLst>
                <a:path w="228600" h="266700">
                  <a:moveTo>
                    <a:pt x="0" y="0"/>
                  </a:moveTo>
                  <a:lnTo>
                    <a:pt x="76200" y="0"/>
                  </a:lnTo>
                  <a:lnTo>
                    <a:pt x="76200" y="114300"/>
                  </a:lnTo>
                  <a:lnTo>
                    <a:pt x="190500" y="0"/>
                  </a:lnTo>
                  <a:lnTo>
                    <a:pt x="228600" y="0"/>
                  </a:lnTo>
                  <a:lnTo>
                    <a:pt x="228600" y="266700"/>
                  </a:lnTo>
                  <a:lnTo>
                    <a:pt x="190500" y="266700"/>
                  </a:lnTo>
                  <a:lnTo>
                    <a:pt x="76200" y="152400"/>
                  </a:lnTo>
                  <a:lnTo>
                    <a:pt x="762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73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01256" y="21869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후진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5580" y="2733675"/>
              <a:ext cx="2721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모터 좌 -10 우 -10 (1000ms)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342" y="3130868"/>
              <a:ext cx="3630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숫자는 그대로, 부호만 마이너스 → 반대 방향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6342" y="3435668"/>
              <a:ext cx="30578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같은 1초라서 제자리 근처로 돌아온다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5800" y="4191000"/>
            <a:ext cx="10820400" cy="1598295"/>
            <a:chOff x="685800" y="4191000"/>
            <a:chExt cx="10820400" cy="1598295"/>
          </a:xfrm>
        </p:grpSpPr>
        <p:sp>
          <p:nvSpPr>
            <p:cNvPr id="22" name="Rectangle 22"/>
            <p:cNvSpPr/>
            <p:nvPr/>
          </p:nvSpPr>
          <p:spPr>
            <a:xfrm>
              <a:off x="685800" y="4191000"/>
              <a:ext cx="10820400" cy="15240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4191000"/>
              <a:ext cx="38100" cy="15240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1456" y="4453890"/>
              <a:ext cx="2867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모터 블록의 세 가지 규칙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2980" y="4886325"/>
              <a:ext cx="73553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1. 좌·우 값이 같으면 직진, 다르면 회전한다 (예: 좌 10 우 -10 = 제자리 우회전)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2980" y="5191125"/>
              <a:ext cx="7597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2. 시간이 있는 블록은 그 시간만 돌고 멈추고, 없는 블록은 다음 명령까지 계속 돈다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2980" y="5495925"/>
              <a:ext cx="65678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3. 동작 사이의 0.5초 기다리기는 관성을 줄여 움직임을 또렷하게 만든다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9704" y="6324600"/>
            <a:ext cx="10832592" cy="390906"/>
            <a:chOff x="679704" y="6324600"/>
            <a:chExt cx="10832592" cy="390906"/>
          </a:xfrm>
        </p:grpSpPr>
        <p:sp>
          <p:nvSpPr>
            <p:cNvPr id="29" name="Line 29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9704" y="64808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로봇 소프트웨어 개발 · 공동교육과정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43989" y="6480810"/>
              <a:ext cx="1868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XROBO Extreme X1 ·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97218"/>
            <a:ext cx="10836402" cy="898207"/>
            <a:chOff x="669798" y="597218"/>
            <a:chExt cx="10836402" cy="8982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2755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CODE READING 4 · 부저 멜로디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488529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주파수 숫자가 음이 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8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143000" y="2381250"/>
            <a:ext cx="9620250" cy="1619250"/>
            <a:chOff x="1143000" y="2381250"/>
            <a:chExt cx="9620250" cy="1619250"/>
          </a:xfrm>
        </p:grpSpPr>
        <p:sp>
          <p:nvSpPr>
            <p:cNvPr id="6" name="Rectangle 6"/>
            <p:cNvSpPr/>
            <p:nvPr/>
          </p:nvSpPr>
          <p:spPr>
            <a:xfrm>
              <a:off x="1143000" y="3143250"/>
              <a:ext cx="1047750" cy="85725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2571750" y="2762250"/>
              <a:ext cx="1047750" cy="12382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000500" y="2381250"/>
              <a:ext cx="1047750" cy="16192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0" y="2762250"/>
              <a:ext cx="1047750" cy="12382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0" y="3143250"/>
              <a:ext cx="1047750" cy="85725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286750" y="2762250"/>
              <a:ext cx="1047750" cy="12382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715500" y="2381250"/>
              <a:ext cx="1047750" cy="16192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136142" y="1759268"/>
            <a:ext cx="9275173" cy="2677477"/>
            <a:chOff x="1136142" y="1759268"/>
            <a:chExt cx="9275173" cy="2677477"/>
          </a:xfrm>
        </p:grpSpPr>
        <p:sp>
          <p:nvSpPr>
            <p:cNvPr id="14" name="TextBox 14"/>
            <p:cNvSpPr txBox="1"/>
            <p:nvPr/>
          </p:nvSpPr>
          <p:spPr>
            <a:xfrm>
              <a:off x="1494934" y="4143375"/>
              <a:ext cx="3438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도5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23684" y="4143375"/>
              <a:ext cx="3438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레5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52434" y="4143375"/>
              <a:ext cx="3438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미5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81184" y="4143375"/>
              <a:ext cx="3438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레5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09934" y="4143375"/>
              <a:ext cx="3438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도5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38684" y="4143375"/>
              <a:ext cx="3438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레5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67434" y="4143375"/>
              <a:ext cx="3438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미5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0084" y="2826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B7280"/>
                  </a:solidFill>
                  <a:latin typeface="Consolas"/>
                  <a:ea typeface="Consolas"/>
                  <a:cs typeface="Consolas"/>
                </a:rPr>
                <a:t>523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38834" y="2445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B7280"/>
                  </a:solidFill>
                  <a:latin typeface="Consolas"/>
                  <a:ea typeface="Consolas"/>
                  <a:cs typeface="Consolas"/>
                </a:rPr>
                <a:t>587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67584" y="2064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B7280"/>
                  </a:solidFill>
                  <a:latin typeface="Consolas"/>
                  <a:ea typeface="Consolas"/>
                  <a:cs typeface="Consolas"/>
                </a:rPr>
                <a:t>659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96334" y="2445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B7280"/>
                  </a:solidFill>
                  <a:latin typeface="Consolas"/>
                  <a:ea typeface="Consolas"/>
                  <a:cs typeface="Consolas"/>
                </a:rPr>
                <a:t>587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25084" y="2826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B7280"/>
                  </a:solidFill>
                  <a:latin typeface="Consolas"/>
                  <a:ea typeface="Consolas"/>
                  <a:cs typeface="Consolas"/>
                </a:rPr>
                <a:t>523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53834" y="2445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B7280"/>
                  </a:solidFill>
                  <a:latin typeface="Consolas"/>
                  <a:ea typeface="Consolas"/>
                  <a:cs typeface="Consolas"/>
                </a:rPr>
                <a:t>587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82584" y="2064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B7280"/>
                  </a:solidFill>
                  <a:latin typeface="Consolas"/>
                  <a:ea typeface="Consolas"/>
                  <a:cs typeface="Consolas"/>
                </a:rPr>
                <a:t>659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6142" y="1759268"/>
              <a:ext cx="5489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막대 위 숫자 = 블록에 적힌 주파수(Hz), 높이가 높을수록 높은 음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5800" y="4667250"/>
            <a:ext cx="10820400" cy="571500"/>
            <a:chOff x="685800" y="4667250"/>
            <a:chExt cx="10820400" cy="571500"/>
          </a:xfrm>
        </p:grpSpPr>
        <p:sp>
          <p:nvSpPr>
            <p:cNvPr id="30" name="Rectangle 30"/>
            <p:cNvSpPr/>
            <p:nvPr/>
          </p:nvSpPr>
          <p:spPr>
            <a:xfrm>
              <a:off x="685800" y="4667250"/>
              <a:ext cx="10820400" cy="5715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85800" y="4667250"/>
              <a:ext cx="38100" cy="57150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82980" y="4867275"/>
              <a:ext cx="87487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한 음마다 「50ms 재생 + 100ms 쉬기」 — 쉬는 시간이 있어야 같은 음도 두 번으로 또렷이 들린다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8180" y="5514975"/>
            <a:ext cx="9265825" cy="598170"/>
            <a:chOff x="678180" y="5514975"/>
            <a:chExt cx="9265825" cy="598170"/>
          </a:xfrm>
        </p:grpSpPr>
        <p:sp>
          <p:nvSpPr>
            <p:cNvPr id="34" name="TextBox 34"/>
            <p:cNvSpPr txBox="1"/>
            <p:nvPr/>
          </p:nvSpPr>
          <p:spPr>
            <a:xfrm>
              <a:off x="678180" y="5514975"/>
              <a:ext cx="92658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주파수가 2배가 되면 한 옥타브 위 음이 된다 (도4 = 262Hz → 도5 = 523Hz). 부저는 초당 진동수만큼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8180" y="5819775"/>
              <a:ext cx="75674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떨리는 소리를 내므로, 블록의 숫자를 바꾸는 것만으로 어떤 멜로디든 만들 수 있다.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9704" y="6324600"/>
            <a:ext cx="10832592" cy="390906"/>
            <a:chOff x="679704" y="6324600"/>
            <a:chExt cx="10832592" cy="390906"/>
          </a:xfrm>
        </p:grpSpPr>
        <p:sp>
          <p:nvSpPr>
            <p:cNvPr id="37" name="Line 37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704" y="64808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로봇 소프트웨어 개발 · 공동교육과정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43989" y="6480810"/>
              <a:ext cx="1868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XROBO Extreme X1 ·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97218"/>
            <a:ext cx="10836402" cy="898207"/>
            <a:chOff x="669798" y="597218"/>
            <a:chExt cx="10836402" cy="8982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24634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CODE READING 5 · 함수 1부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5141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「엑스쿠터 컨트롤」 — 진입 조건과 시작음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8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85800" y="1809750"/>
            <a:ext cx="5334000" cy="3429000"/>
            <a:chOff x="685800" y="1809750"/>
            <a:chExt cx="5334000" cy="34290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5334000" cy="3429000"/>
            </a:xfrm>
            <a:prstGeom prst="rect">
              <a:avLst/>
            </a:prstGeom>
            <a:solidFill>
              <a:srgbClr val="F3F4F6"/>
            </a:solidFill>
            <a:ln w="9525">
              <a:solidFill>
                <a:srgbClr val="E5E7EB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809750"/>
              <a:ext cx="38100" cy="342900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080" y="2105025"/>
              <a:ext cx="2654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0E7490"/>
                  </a:solidFill>
                  <a:latin typeface="Consolas"/>
                  <a:ea typeface="Microsoft YaHei"/>
                  <a:cs typeface="Consolas"/>
                </a:rPr>
                <a:t>함수 정의: 엑스쿠터 컨트롤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1080" y="2562225"/>
              <a:ext cx="28155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E3A8A"/>
                  </a:solidFill>
                  <a:latin typeface="Consolas"/>
                  <a:ea typeface="Microsoft YaHei"/>
                  <a:cs typeface="Consolas"/>
                </a:rPr>
                <a:t>만약 리모컨값(A6) = 1 이면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1080" y="2943225"/>
              <a:ext cx="2519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소리 262 (100ms + 150ms)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1080" y="3248025"/>
              <a:ext cx="2519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소리 294 (100ms + 150ms)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1080" y="3552825"/>
              <a:ext cx="2519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소리 321 (100ms + 150ms)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1080" y="4010025"/>
              <a:ext cx="1351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E3A8A"/>
                  </a:solidFill>
                  <a:latin typeface="Consolas"/>
                  <a:ea typeface="Microsoft YaHei"/>
                  <a:cs typeface="Consolas"/>
                </a:rPr>
                <a:t>무한 반복하기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1080" y="431482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(리모컨 값 분기 — 다음 장)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1842" y="4788218"/>
              <a:ext cx="2957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조건이 거짓이면 즉시 메인으로 복귀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477000" y="1809750"/>
            <a:ext cx="5029200" cy="1562100"/>
            <a:chOff x="6477000" y="1809750"/>
            <a:chExt cx="5029200" cy="1562100"/>
          </a:xfrm>
        </p:grpSpPr>
        <p:sp>
          <p:nvSpPr>
            <p:cNvPr id="17" name="Rectangle 17"/>
            <p:cNvSpPr/>
            <p:nvPr/>
          </p:nvSpPr>
          <p:spPr>
            <a:xfrm>
              <a:off x="6477000" y="1809750"/>
              <a:ext cx="5029200" cy="15621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77000" y="1809750"/>
              <a:ext cx="5029200" cy="571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72656" y="2091690"/>
              <a:ext cx="24989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문지기 역할의 if 블록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74180" y="2543175"/>
              <a:ext cx="3973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리모컨 1번이 눌린 순간에만 본문이 열린다.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74180" y="2847975"/>
              <a:ext cx="3599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그 외에는 함수가 빈손으로 되돌아간다.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77000" y="3600450"/>
            <a:ext cx="5029200" cy="1638300"/>
            <a:chOff x="6477000" y="3600450"/>
            <a:chExt cx="5029200" cy="1638300"/>
          </a:xfrm>
        </p:grpSpPr>
        <p:sp>
          <p:nvSpPr>
            <p:cNvPr id="23" name="Rectangle 23"/>
            <p:cNvSpPr/>
            <p:nvPr/>
          </p:nvSpPr>
          <p:spPr>
            <a:xfrm>
              <a:off x="6477000" y="3600450"/>
              <a:ext cx="5029200" cy="1638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7000" y="3600450"/>
              <a:ext cx="50292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2656" y="3882390"/>
              <a:ext cx="2677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시작음 = 사용자 피드백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74180" y="4333875"/>
              <a:ext cx="38878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262·294·321Hz ≈ 도4·레4·미4 세 음으로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4180" y="4638675"/>
              <a:ext cx="36196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"모드가 바뀌었다"를 소리로 알려 준다.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85800" y="5486400"/>
            <a:ext cx="10820400" cy="495300"/>
            <a:chOff x="685800" y="5486400"/>
            <a:chExt cx="10820400" cy="495300"/>
          </a:xfrm>
        </p:grpSpPr>
        <p:sp>
          <p:nvSpPr>
            <p:cNvPr id="29" name="Rectangle 29"/>
            <p:cNvSpPr/>
            <p:nvPr/>
          </p:nvSpPr>
          <p:spPr>
            <a:xfrm>
              <a:off x="685800" y="5486400"/>
              <a:ext cx="10820400" cy="4953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5800" y="5486400"/>
              <a:ext cx="38100" cy="49530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3742" y="5664518"/>
              <a:ext cx="8909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참고 · 정확한 미4는 330Hz — 소스의 321은 근사값이라 살짝 낮게 들린다. 직접 330으로 고쳐 비교해 보자.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9704" y="6324600"/>
            <a:ext cx="10832592" cy="390906"/>
            <a:chOff x="679704" y="6324600"/>
            <a:chExt cx="10832592" cy="390906"/>
          </a:xfrm>
        </p:grpSpPr>
        <p:sp>
          <p:nvSpPr>
            <p:cNvPr id="33" name="Line 33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9704" y="64808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로봇 소프트웨어 개발 · 공동교육과정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43989" y="6480810"/>
              <a:ext cx="1868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XROBO Extreme X1 ·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97218"/>
            <a:ext cx="10836402" cy="898207"/>
            <a:chOff x="669798" y="597218"/>
            <a:chExt cx="10836402" cy="8982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24634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CODE READING 6 · 함수 2부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3582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중첩 if-else — 리모컨 값이 동작을 고른다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8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85800" y="1809750"/>
            <a:ext cx="5334000" cy="3619500"/>
            <a:chOff x="685800" y="1809750"/>
            <a:chExt cx="5334000" cy="36195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5334000" cy="3619500"/>
            </a:xfrm>
            <a:prstGeom prst="rect">
              <a:avLst/>
            </a:prstGeom>
            <a:solidFill>
              <a:srgbClr val="F3F4F6"/>
            </a:solidFill>
            <a:ln w="9525">
              <a:solidFill>
                <a:srgbClr val="E5E7EB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809750"/>
              <a:ext cx="38100" cy="36195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080" y="2105025"/>
              <a:ext cx="1351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E3A8A"/>
                  </a:solidFill>
                  <a:latin typeface="Consolas"/>
                  <a:ea typeface="Microsoft YaHei"/>
                  <a:cs typeface="Consolas"/>
                </a:rPr>
                <a:t>무한 반복하기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1080" y="2486025"/>
              <a:ext cx="1673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0E7490"/>
                  </a:solidFill>
                  <a:latin typeface="Consolas"/>
                  <a:ea typeface="Microsoft YaHei"/>
                  <a:cs typeface="Consolas"/>
                </a:rPr>
                <a:t>만약 A6 = 1 이면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1080" y="2790825"/>
              <a:ext cx="2196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모터 좌 20 우 20 (계속)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1080" y="3171825"/>
              <a:ext cx="2412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0E7490"/>
                  </a:solidFill>
                  <a:latin typeface="Consolas"/>
                  <a:ea typeface="Microsoft YaHei"/>
                  <a:cs typeface="Consolas"/>
                </a:rPr>
                <a:t>아니면 만약 A6 = 2 이면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1080" y="3476625"/>
              <a:ext cx="24182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모터 좌 -20 우 -20 (계속)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1080" y="3857625"/>
              <a:ext cx="2412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0E7490"/>
                  </a:solidFill>
                  <a:latin typeface="Consolas"/>
                  <a:ea typeface="Microsoft YaHei"/>
                  <a:cs typeface="Consolas"/>
                </a:rPr>
                <a:t>아니면 만약 A6 = 5 이면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1080" y="416242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멜로디 7음 연주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1080" y="45434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0E7490"/>
                  </a:solidFill>
                  <a:latin typeface="Consolas"/>
                  <a:ea typeface="Microsoft YaHei"/>
                  <a:cs typeface="Consolas"/>
                </a:rPr>
                <a:t>아니면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1080" y="4848225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모터 좌 0 우 0 (정지)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477000" y="1809750"/>
            <a:ext cx="5029200" cy="3009900"/>
            <a:chOff x="6477000" y="1809750"/>
            <a:chExt cx="5029200" cy="3009900"/>
          </a:xfrm>
        </p:grpSpPr>
        <p:sp>
          <p:nvSpPr>
            <p:cNvPr id="18" name="Rectangle 18"/>
            <p:cNvSpPr/>
            <p:nvPr/>
          </p:nvSpPr>
          <p:spPr>
            <a:xfrm>
              <a:off x="6477000" y="1809750"/>
              <a:ext cx="5029200" cy="4953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74180" y="1971675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버튼 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74380" y="1971675"/>
              <a:ext cx="1138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로봇의 동작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77000" y="2305050"/>
              <a:ext cx="5029200" cy="628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4180" y="25431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E3A8A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4380" y="2543175"/>
              <a:ext cx="18528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전진 — 좌 20 · 우 20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0" y="2933700"/>
              <a:ext cx="5029200" cy="628650"/>
            </a:xfrm>
            <a:prstGeom prst="rect">
              <a:avLst/>
            </a:prstGeom>
            <a:solidFill>
              <a:srgbClr val="F3F4F6"/>
            </a:solidFill>
            <a:ln w="9525">
              <a:solidFill>
                <a:srgbClr val="E5E7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4180" y="3171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E3A8A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4380" y="3171825"/>
              <a:ext cx="20749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후진 — 좌 -20 · 우 -20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77000" y="3562350"/>
              <a:ext cx="5029200" cy="628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74180" y="38004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97316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4380" y="38004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멜로디 — 도레미레도레미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77000" y="4191000"/>
              <a:ext cx="5029200" cy="628650"/>
            </a:xfrm>
            <a:prstGeom prst="rect">
              <a:avLst/>
            </a:prstGeom>
            <a:solidFill>
              <a:srgbClr val="F3F4F6"/>
            </a:solidFill>
            <a:ln w="9525">
              <a:solidFill>
                <a:srgbClr val="E5E7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74180" y="44291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기타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4380" y="44291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정지 — 좌 0 · 우 0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70142" y="5073968"/>
            <a:ext cx="5456739" cy="264033"/>
            <a:chOff x="6470142" y="5073968"/>
            <a:chExt cx="5456739" cy="264033"/>
          </a:xfrm>
        </p:grpSpPr>
        <p:sp>
          <p:nvSpPr>
            <p:cNvPr id="34" name="TextBox 34"/>
            <p:cNvSpPr txBox="1"/>
            <p:nvPr/>
          </p:nvSpPr>
          <p:spPr>
            <a:xfrm>
              <a:off x="6470142" y="5073968"/>
              <a:ext cx="5456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위에서부터 차례로 검사하다 처음 참이 되는 가지 하나만 실행된다.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5800" y="5600700"/>
            <a:ext cx="10820400" cy="438150"/>
            <a:chOff x="685800" y="5600700"/>
            <a:chExt cx="10820400" cy="438150"/>
          </a:xfrm>
        </p:grpSpPr>
        <p:sp>
          <p:nvSpPr>
            <p:cNvPr id="36" name="Rectangle 36"/>
            <p:cNvSpPr/>
            <p:nvPr/>
          </p:nvSpPr>
          <p:spPr>
            <a:xfrm>
              <a:off x="685800" y="5600700"/>
              <a:ext cx="10820400" cy="43815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5800" y="5600700"/>
              <a:ext cx="38100" cy="438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83742" y="5740718"/>
              <a:ext cx="10363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버튼을 떼면 A6 값이 1·2·5 어디에도 해당하지 않으므로 마지막 「아니면」 가지가 로봇을 멈춘다 — 안전장치이기도 하다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79704" y="6324600"/>
            <a:ext cx="10832592" cy="390906"/>
            <a:chOff x="679704" y="6324600"/>
            <a:chExt cx="10832592" cy="390906"/>
          </a:xfrm>
        </p:grpSpPr>
        <p:sp>
          <p:nvSpPr>
            <p:cNvPr id="40" name="Line 40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9704" y="64808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로봇 소프트웨어 개발 · 공동교육과정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43989" y="6480810"/>
              <a:ext cx="1868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XROBO Extreme X1 ·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97218"/>
            <a:ext cx="10836402" cy="898207"/>
            <a:chOff x="669798" y="597218"/>
            <a:chExt cx="10836402" cy="8982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2655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FLOWCHART · 전체 실행 흐름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3546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한 장으로 보는 프로그램의 일생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8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57250" y="1905000"/>
            <a:ext cx="1905000" cy="1028700"/>
            <a:chOff x="857250" y="1905000"/>
            <a:chExt cx="1905000" cy="1028700"/>
          </a:xfrm>
        </p:grpSpPr>
        <p:sp>
          <p:nvSpPr>
            <p:cNvPr id="6" name="Rectangle 6"/>
            <p:cNvSpPr/>
            <p:nvPr/>
          </p:nvSpPr>
          <p:spPr>
            <a:xfrm>
              <a:off x="857250" y="1905000"/>
              <a:ext cx="1905000" cy="5715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12331" y="2105025"/>
              <a:ext cx="15948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시작 · 초기 설정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809750" y="24765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743075" y="280035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66675" y="13335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857250" y="2933700"/>
            <a:ext cx="4572000" cy="2590800"/>
            <a:chOff x="857250" y="2933700"/>
            <a:chExt cx="4572000" cy="2590800"/>
          </a:xfrm>
        </p:grpSpPr>
        <p:sp>
          <p:nvSpPr>
            <p:cNvPr id="11" name="Rectangle 11"/>
            <p:cNvSpPr/>
            <p:nvPr/>
          </p:nvSpPr>
          <p:spPr>
            <a:xfrm>
              <a:off x="857250" y="2933700"/>
              <a:ext cx="4572000" cy="2590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E3A8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54430" y="319087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E3A8A"/>
                  </a:solidFill>
                  <a:latin typeface="Pretendard"/>
                  <a:ea typeface="Pretendard"/>
                  <a:cs typeface="Pretendard"/>
                </a:rPr>
                <a:t>메인 루프 (무한 반복)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5192" y="3626168"/>
              <a:ext cx="32109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1. 폴링 10회 — 매회 A6 = 1 인지 검사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55192" y="395001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2. 전진 1초 → 0.5초 대기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55192" y="427386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3. 후진 1초 → 0.5초 대기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5192" y="4597718"/>
              <a:ext cx="20582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4. 멜로디 7음 → 다시 1로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5192" y="5073968"/>
              <a:ext cx="2971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리모컨 입력이 없는 한 영원히 반복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29250" y="3333750"/>
            <a:ext cx="3077695" cy="1495425"/>
            <a:chOff x="5429250" y="3333750"/>
            <a:chExt cx="3077695" cy="1495425"/>
          </a:xfrm>
        </p:grpSpPr>
        <p:sp>
          <p:nvSpPr>
            <p:cNvPr id="19" name="Freeform 19"/>
            <p:cNvSpPr/>
            <p:nvPr/>
          </p:nvSpPr>
          <p:spPr>
            <a:xfrm>
              <a:off x="6096000" y="3333750"/>
              <a:ext cx="1714500" cy="952500"/>
            </a:xfrm>
            <a:custGeom>
              <a:avLst/>
              <a:gdLst/>
              <a:ahLst/>
              <a:cxnLst/>
              <a:rect l="l" t="t" r="r" b="b"/>
              <a:pathLst>
                <a:path w="1714500" h="952500">
                  <a:moveTo>
                    <a:pt x="0" y="476250"/>
                  </a:moveTo>
                  <a:lnTo>
                    <a:pt x="857250" y="0"/>
                  </a:lnTo>
                  <a:lnTo>
                    <a:pt x="1714500" y="476250"/>
                  </a:lnTo>
                  <a:lnTo>
                    <a:pt x="857250" y="952500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9731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31533" y="3607118"/>
              <a:ext cx="6434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폴링 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78426" y="3854768"/>
              <a:ext cx="749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97316"/>
                  </a:solidFill>
                  <a:latin typeface="Pretendard"/>
                  <a:ea typeface="Pretendard"/>
                  <a:cs typeface="Pretendard"/>
                </a:rPr>
                <a:t>A6 = 1 ?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429250" y="3810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810500" y="3810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343900" y="37433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804" y="3528060"/>
              <a:ext cx="181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953250" y="4286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505450" y="4762500"/>
              <a:ext cx="1447800" cy="9525"/>
            </a:xfrm>
            <a:custGeom>
              <a:avLst/>
              <a:gdLst/>
              <a:ahLst/>
              <a:cxnLst/>
              <a:rect l="l" t="t" r="r" b="b"/>
              <a:pathLst>
                <a:path w="1447800" h="9525">
                  <a:moveTo>
                    <a:pt x="14478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505450" y="46958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66675"/>
                  </a:moveTo>
                  <a:lnTo>
                    <a:pt x="133350" y="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61454" y="4499610"/>
              <a:ext cx="14454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아니오 — 시연 계속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77250" y="2933700"/>
            <a:ext cx="2857500" cy="2590800"/>
            <a:chOff x="8477250" y="2933700"/>
            <a:chExt cx="2857500" cy="2590800"/>
          </a:xfrm>
        </p:grpSpPr>
        <p:sp>
          <p:nvSpPr>
            <p:cNvPr id="31" name="Rectangle 31"/>
            <p:cNvSpPr/>
            <p:nvPr/>
          </p:nvSpPr>
          <p:spPr>
            <a:xfrm>
              <a:off x="8477250" y="2933700"/>
              <a:ext cx="2857500" cy="2590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E749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74430" y="3190875"/>
              <a:ext cx="16266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리모컨 제어 모드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75192" y="36261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시작음 도·레·미 연주 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75192" y="39500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무한 반복하며 버튼 분기: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75192" y="4311968"/>
              <a:ext cx="2167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1 전진 · 2 후진 · 5 멜로디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75192" y="4635818"/>
              <a:ext cx="849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그 외 정지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75192" y="5073968"/>
              <a:ext cx="2284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F97316"/>
                  </a:solidFill>
                  <a:latin typeface="Pretendard"/>
                  <a:ea typeface="Pretendard"/>
                  <a:cs typeface="Pretendard"/>
                </a:rPr>
                <a:t>메인 루프로 복귀하지 않음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49630" y="5819775"/>
            <a:ext cx="8061646" cy="293370"/>
            <a:chOff x="849630" y="5819775"/>
            <a:chExt cx="8061646" cy="293370"/>
          </a:xfrm>
        </p:grpSpPr>
        <p:sp>
          <p:nvSpPr>
            <p:cNvPr id="39" name="TextBox 39"/>
            <p:cNvSpPr txBox="1"/>
            <p:nvPr/>
          </p:nvSpPr>
          <p:spPr>
            <a:xfrm>
              <a:off x="849630" y="5819775"/>
              <a:ext cx="8061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자동 시연은 예고편, 리모컨 모드가 본편 — 그리고 본편에서는 되돌아오는 길이 없다.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79704" y="6324600"/>
            <a:ext cx="10832592" cy="390906"/>
            <a:chOff x="679704" y="6324600"/>
            <a:chExt cx="10832592" cy="390906"/>
          </a:xfrm>
        </p:grpSpPr>
        <p:sp>
          <p:nvSpPr>
            <p:cNvPr id="41" name="Line 41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9704" y="64808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로봇 소프트웨어 개발 · 공동교육과정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43989" y="6480810"/>
              <a:ext cx="1868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XROBO Extreme X1 ·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97218"/>
            <a:ext cx="10836402" cy="898207"/>
            <a:chOff x="669798" y="597218"/>
            <a:chExt cx="10836402" cy="8982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19291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0E7490"/>
                  </a:solidFill>
                  <a:latin typeface="Pretendard"/>
                  <a:ea typeface="Pretendard"/>
                  <a:cs typeface="Pretendard"/>
                </a:rPr>
                <a:t>WRAP-UP · 개념 정리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6236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한 소스에 담긴 프로그래밍 구조 4가지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8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85800" y="1809750"/>
            <a:ext cx="5257800" cy="2019300"/>
            <a:chOff x="685800" y="1809750"/>
            <a:chExt cx="5257800" cy="20193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5257800" cy="2019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809750"/>
              <a:ext cx="5257800" cy="5715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6101" y="2174081"/>
              <a:ext cx="305968" cy="300038"/>
              <a:chOff x="1006101" y="2174081"/>
              <a:chExt cx="305968" cy="30003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40619" y="2174081"/>
                <a:ext cx="1714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42862">
                    <a:moveTo>
                      <a:pt x="0" y="0"/>
                    </a:moveTo>
                    <a:lnTo>
                      <a:pt x="171450" y="0"/>
                    </a:lnTo>
                    <a:lnTo>
                      <a:pt x="171450" y="42862"/>
                    </a:lnTo>
                    <a:lnTo>
                      <a:pt x="0" y="428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3A8A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40619" y="2259806"/>
                <a:ext cx="1714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42862">
                    <a:moveTo>
                      <a:pt x="0" y="0"/>
                    </a:moveTo>
                    <a:lnTo>
                      <a:pt x="171450" y="0"/>
                    </a:lnTo>
                    <a:lnTo>
                      <a:pt x="171450" y="42862"/>
                    </a:lnTo>
                    <a:lnTo>
                      <a:pt x="0" y="428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3A8A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40619" y="2345531"/>
                <a:ext cx="1714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42862">
                    <a:moveTo>
                      <a:pt x="171450" y="0"/>
                    </a:moveTo>
                    <a:lnTo>
                      <a:pt x="0" y="0"/>
                    </a:lnTo>
                    <a:lnTo>
                      <a:pt x="0" y="42862"/>
                    </a:lnTo>
                    <a:lnTo>
                      <a:pt x="171450" y="42862"/>
                    </a:lnTo>
                    <a:lnTo>
                      <a:pt x="171450" y="0"/>
                    </a:lnTo>
                    <a:close/>
                  </a:path>
                </a:pathLst>
              </a:custGeom>
              <a:solidFill>
                <a:srgbClr val="1E3A8A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40619" y="2431256"/>
                <a:ext cx="1714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42862">
                    <a:moveTo>
                      <a:pt x="0" y="0"/>
                    </a:moveTo>
                    <a:lnTo>
                      <a:pt x="171450" y="0"/>
                    </a:lnTo>
                    <a:lnTo>
                      <a:pt x="171450" y="42862"/>
                    </a:lnTo>
                    <a:lnTo>
                      <a:pt x="0" y="428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3A8A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12031" y="2345531"/>
                <a:ext cx="88404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88404" h="128588">
                    <a:moveTo>
                      <a:pt x="49046" y="37505"/>
                    </a:moveTo>
                    <a:lnTo>
                      <a:pt x="0" y="37505"/>
                    </a:lnTo>
                    <a:lnTo>
                      <a:pt x="0" y="0"/>
                    </a:lnTo>
                    <a:lnTo>
                      <a:pt x="49046" y="0"/>
                    </a:lnTo>
                    <a:cubicBezTo>
                      <a:pt x="70783" y="0"/>
                      <a:pt x="88404" y="17621"/>
                      <a:pt x="88404" y="39356"/>
                    </a:cubicBezTo>
                    <a:cubicBezTo>
                      <a:pt x="88404" y="50164"/>
                      <a:pt x="83960" y="60496"/>
                      <a:pt x="76114" y="67928"/>
                    </a:cubicBezTo>
                    <a:lnTo>
                      <a:pt x="51674" y="91083"/>
                    </a:lnTo>
                    <a:lnTo>
                      <a:pt x="85725" y="91083"/>
                    </a:lnTo>
                    <a:lnTo>
                      <a:pt x="85725" y="128588"/>
                    </a:lnTo>
                    <a:lnTo>
                      <a:pt x="0" y="128588"/>
                    </a:lnTo>
                    <a:lnTo>
                      <a:pt x="0" y="88374"/>
                    </a:lnTo>
                    <a:lnTo>
                      <a:pt x="50321" y="40702"/>
                    </a:lnTo>
                    <a:cubicBezTo>
                      <a:pt x="50690" y="40353"/>
                      <a:pt x="50899" y="39866"/>
                      <a:pt x="50899" y="39356"/>
                    </a:cubicBezTo>
                    <a:cubicBezTo>
                      <a:pt x="50899" y="38334"/>
                      <a:pt x="50070" y="37505"/>
                      <a:pt x="49046" y="37505"/>
                    </a:cubicBezTo>
                    <a:close/>
                  </a:path>
                </a:pathLst>
              </a:custGeom>
              <a:solidFill>
                <a:srgbClr val="1E3A8A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06101" y="2176760"/>
                <a:ext cx="67545" cy="125909"/>
              </a:xfrm>
              <a:custGeom>
                <a:avLst/>
                <a:gdLst/>
                <a:ahLst/>
                <a:cxnLst/>
                <a:rect l="l" t="t" r="r" b="b"/>
                <a:pathLst>
                  <a:path w="67545" h="125909">
                    <a:moveTo>
                      <a:pt x="35034" y="0"/>
                    </a:moveTo>
                    <a:lnTo>
                      <a:pt x="0" y="11678"/>
                    </a:lnTo>
                    <a:lnTo>
                      <a:pt x="11860" y="47258"/>
                    </a:lnTo>
                    <a:lnTo>
                      <a:pt x="30040" y="41198"/>
                    </a:lnTo>
                    <a:lnTo>
                      <a:pt x="30040" y="125909"/>
                    </a:lnTo>
                    <a:lnTo>
                      <a:pt x="67545" y="125909"/>
                    </a:lnTo>
                    <a:lnTo>
                      <a:pt x="67545" y="0"/>
                    </a:lnTo>
                    <a:lnTo>
                      <a:pt x="35034" y="0"/>
                    </a:lnTo>
                    <a:close/>
                  </a:path>
                </a:pathLst>
              </a:custGeom>
              <a:solidFill>
                <a:srgbClr val="1E3A8A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514856" y="2205990"/>
              <a:ext cx="20168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순차 (Sequence)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3742" y="2749868"/>
              <a:ext cx="3294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블록은 위에서 아래로 한 줄씩 실행된다.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3742" y="3054668"/>
              <a:ext cx="4130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소스 속 위치 · 초기 설정 두 줄, 멜로디 7음의 순서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3359468"/>
              <a:ext cx="27215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전진 → 대기 → 후진의 고정된 차례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48400" y="1809750"/>
            <a:ext cx="5257800" cy="2019300"/>
            <a:chOff x="6248400" y="1809750"/>
            <a:chExt cx="5257800" cy="2019300"/>
          </a:xfrm>
        </p:grpSpPr>
        <p:sp>
          <p:nvSpPr>
            <p:cNvPr id="20" name="Rectangle 20"/>
            <p:cNvSpPr/>
            <p:nvPr/>
          </p:nvSpPr>
          <p:spPr>
            <a:xfrm>
              <a:off x="6248400" y="1809750"/>
              <a:ext cx="5257800" cy="2019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48400" y="1809750"/>
              <a:ext cx="52578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553200" y="2152650"/>
              <a:ext cx="342900" cy="342900"/>
              <a:chOff x="6553200" y="2152650"/>
              <a:chExt cx="342900" cy="3429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553200" y="2152650"/>
                <a:ext cx="300038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92881">
                    <a:moveTo>
                      <a:pt x="214312" y="171450"/>
                    </a:moveTo>
                    <a:lnTo>
                      <a:pt x="192881" y="171450"/>
                    </a:lnTo>
                    <a:lnTo>
                      <a:pt x="192881" y="103294"/>
                    </a:lnTo>
                    <a:lnTo>
                      <a:pt x="110527" y="86824"/>
                    </a:lnTo>
                    <a:cubicBezTo>
                      <a:pt x="106874" y="86093"/>
                      <a:pt x="103158" y="85725"/>
                      <a:pt x="99433" y="85725"/>
                    </a:cubicBezTo>
                    <a:cubicBezTo>
                      <a:pt x="68190" y="85725"/>
                      <a:pt x="42862" y="111052"/>
                      <a:pt x="42862" y="142295"/>
                    </a:cubicBezTo>
                    <a:lnTo>
                      <a:pt x="42862" y="192881"/>
                    </a:lnTo>
                    <a:lnTo>
                      <a:pt x="0" y="192881"/>
                    </a:lnTo>
                    <a:lnTo>
                      <a:pt x="0" y="142295"/>
                    </a:lnTo>
                    <a:cubicBezTo>
                      <a:pt x="0" y="87380"/>
                      <a:pt x="44517" y="42862"/>
                      <a:pt x="99433" y="42862"/>
                    </a:cubicBezTo>
                    <a:cubicBezTo>
                      <a:pt x="105981" y="42862"/>
                      <a:pt x="112512" y="43509"/>
                      <a:pt x="118933" y="44793"/>
                    </a:cubicBezTo>
                    <a:lnTo>
                      <a:pt x="192881" y="59583"/>
                    </a:lnTo>
                    <a:lnTo>
                      <a:pt x="192881" y="0"/>
                    </a:lnTo>
                    <a:lnTo>
                      <a:pt x="214312" y="0"/>
                    </a:lnTo>
                    <a:lnTo>
                      <a:pt x="300038" y="85725"/>
                    </a:lnTo>
                    <a:lnTo>
                      <a:pt x="214312" y="171450"/>
                    </a:lnTo>
                    <a:close/>
                  </a:path>
                </a:pathLst>
              </a:custGeom>
              <a:solidFill>
                <a:srgbClr val="F97316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596062" y="2302669"/>
                <a:ext cx="300038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92881">
                    <a:moveTo>
                      <a:pt x="300038" y="0"/>
                    </a:moveTo>
                    <a:lnTo>
                      <a:pt x="300038" y="50586"/>
                    </a:lnTo>
                    <a:cubicBezTo>
                      <a:pt x="300038" y="105502"/>
                      <a:pt x="255521" y="150019"/>
                      <a:pt x="200605" y="150019"/>
                    </a:cubicBezTo>
                    <a:cubicBezTo>
                      <a:pt x="194058" y="150019"/>
                      <a:pt x="187526" y="149372"/>
                      <a:pt x="181105" y="148088"/>
                    </a:cubicBezTo>
                    <a:lnTo>
                      <a:pt x="107156" y="133298"/>
                    </a:lnTo>
                    <a:lnTo>
                      <a:pt x="107156" y="192881"/>
                    </a:lnTo>
                    <a:lnTo>
                      <a:pt x="85725" y="192881"/>
                    </a:lnTo>
                    <a:lnTo>
                      <a:pt x="0" y="107156"/>
                    </a:lnTo>
                    <a:lnTo>
                      <a:pt x="85725" y="21431"/>
                    </a:lnTo>
                    <a:lnTo>
                      <a:pt x="107156" y="21431"/>
                    </a:lnTo>
                    <a:lnTo>
                      <a:pt x="107156" y="89587"/>
                    </a:lnTo>
                    <a:lnTo>
                      <a:pt x="189510" y="106057"/>
                    </a:lnTo>
                    <a:cubicBezTo>
                      <a:pt x="193164" y="106788"/>
                      <a:pt x="196880" y="107156"/>
                      <a:pt x="200605" y="107156"/>
                    </a:cubicBezTo>
                    <a:cubicBezTo>
                      <a:pt x="231848" y="107156"/>
                      <a:pt x="257175" y="81829"/>
                      <a:pt x="257175" y="50586"/>
                    </a:cubicBezTo>
                    <a:lnTo>
                      <a:pt x="257175" y="0"/>
                    </a:lnTo>
                    <a:lnTo>
                      <a:pt x="300038" y="0"/>
                    </a:lnTo>
                    <a:close/>
                  </a:path>
                </a:pathLst>
              </a:custGeom>
              <a:solidFill>
                <a:srgbClr val="F97316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077456" y="2205990"/>
              <a:ext cx="14632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반복 (Loop)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46342" y="2749868"/>
              <a:ext cx="4075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같은 코드를 정해진 횟수 또는 무한히 되풀이한다.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6342" y="3054668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소스 속 위치 · 무한 반복 2곳(메인·함수),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6342" y="3359468"/>
              <a:ext cx="1740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10번 반복하기(폴링)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4057650"/>
            <a:ext cx="5257800" cy="2019300"/>
            <a:chOff x="685800" y="4057650"/>
            <a:chExt cx="5257800" cy="2019300"/>
          </a:xfrm>
        </p:grpSpPr>
        <p:sp>
          <p:nvSpPr>
            <p:cNvPr id="30" name="Rectangle 30"/>
            <p:cNvSpPr/>
            <p:nvPr/>
          </p:nvSpPr>
          <p:spPr>
            <a:xfrm>
              <a:off x="685800" y="4057650"/>
              <a:ext cx="5257800" cy="2019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85800" y="4057650"/>
              <a:ext cx="5257800" cy="571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22747" y="4400550"/>
              <a:ext cx="278606" cy="342900"/>
            </a:xfrm>
            <a:custGeom>
              <a:avLst/>
              <a:gdLst/>
              <a:ahLst/>
              <a:cxnLst/>
              <a:rect l="l" t="t" r="r" b="b"/>
              <a:pathLst>
                <a:path w="278606" h="342900">
                  <a:moveTo>
                    <a:pt x="75009" y="102698"/>
                  </a:moveTo>
                  <a:cubicBezTo>
                    <a:pt x="93932" y="94430"/>
                    <a:pt x="107156" y="75549"/>
                    <a:pt x="107156" y="53578"/>
                  </a:cubicBezTo>
                  <a:cubicBezTo>
                    <a:pt x="107156" y="23988"/>
                    <a:pt x="83168" y="0"/>
                    <a:pt x="53578" y="0"/>
                  </a:cubicBezTo>
                  <a:cubicBezTo>
                    <a:pt x="23988" y="0"/>
                    <a:pt x="0" y="23988"/>
                    <a:pt x="0" y="53578"/>
                  </a:cubicBezTo>
                  <a:cubicBezTo>
                    <a:pt x="0" y="75549"/>
                    <a:pt x="13224" y="94430"/>
                    <a:pt x="32147" y="102698"/>
                  </a:cubicBezTo>
                  <a:lnTo>
                    <a:pt x="32147" y="192881"/>
                  </a:lnTo>
                  <a:lnTo>
                    <a:pt x="117872" y="192881"/>
                  </a:lnTo>
                  <a:lnTo>
                    <a:pt x="117872" y="240201"/>
                  </a:lnTo>
                  <a:cubicBezTo>
                    <a:pt x="98949" y="248470"/>
                    <a:pt x="85725" y="267351"/>
                    <a:pt x="85725" y="289322"/>
                  </a:cubicBezTo>
                  <a:cubicBezTo>
                    <a:pt x="85725" y="318912"/>
                    <a:pt x="109713" y="342900"/>
                    <a:pt x="139303" y="342900"/>
                  </a:cubicBezTo>
                  <a:cubicBezTo>
                    <a:pt x="168893" y="342900"/>
                    <a:pt x="192881" y="318912"/>
                    <a:pt x="192881" y="289322"/>
                  </a:cubicBezTo>
                  <a:cubicBezTo>
                    <a:pt x="192881" y="267351"/>
                    <a:pt x="179657" y="248470"/>
                    <a:pt x="160734" y="240201"/>
                  </a:cubicBezTo>
                  <a:lnTo>
                    <a:pt x="160734" y="192881"/>
                  </a:lnTo>
                  <a:lnTo>
                    <a:pt x="246459" y="192881"/>
                  </a:lnTo>
                  <a:lnTo>
                    <a:pt x="246459" y="102698"/>
                  </a:lnTo>
                  <a:cubicBezTo>
                    <a:pt x="265383" y="94430"/>
                    <a:pt x="278606" y="75549"/>
                    <a:pt x="278606" y="53578"/>
                  </a:cubicBezTo>
                  <a:cubicBezTo>
                    <a:pt x="278606" y="23988"/>
                    <a:pt x="254618" y="0"/>
                    <a:pt x="225028" y="0"/>
                  </a:cubicBezTo>
                  <a:cubicBezTo>
                    <a:pt x="195438" y="0"/>
                    <a:pt x="171450" y="23988"/>
                    <a:pt x="171450" y="53578"/>
                  </a:cubicBezTo>
                  <a:cubicBezTo>
                    <a:pt x="171450" y="75549"/>
                    <a:pt x="184673" y="94430"/>
                    <a:pt x="203597" y="102698"/>
                  </a:cubicBezTo>
                  <a:lnTo>
                    <a:pt x="203597" y="150019"/>
                  </a:lnTo>
                  <a:lnTo>
                    <a:pt x="75009" y="150019"/>
                  </a:lnTo>
                  <a:lnTo>
                    <a:pt x="75009" y="102698"/>
                  </a:lnTo>
                  <a:close/>
                </a:path>
              </a:pathLst>
            </a:custGeom>
            <a:solidFill>
              <a:srgbClr val="0E749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14856" y="4453890"/>
              <a:ext cx="20281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선택 (Selection)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3742" y="4997768"/>
              <a:ext cx="37574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조건의 참·거짓에 따라 실행할 가지를 고른다.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3742" y="5302568"/>
              <a:ext cx="2667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소스 속 위치 · 진입 조건 if 1곳,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3742" y="5607368"/>
              <a:ext cx="259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3단 중첩 if-else (1·2·5·기타)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48400" y="4057650"/>
            <a:ext cx="5257800" cy="2019300"/>
            <a:chOff x="6248400" y="4057650"/>
            <a:chExt cx="5257800" cy="2019300"/>
          </a:xfrm>
        </p:grpSpPr>
        <p:sp>
          <p:nvSpPr>
            <p:cNvPr id="38" name="Rectangle 38"/>
            <p:cNvSpPr/>
            <p:nvPr/>
          </p:nvSpPr>
          <p:spPr>
            <a:xfrm>
              <a:off x="6248400" y="4057650"/>
              <a:ext cx="5257800" cy="2019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E7EB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4057650"/>
              <a:ext cx="5257800" cy="5715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6574631" y="4421981"/>
              <a:ext cx="300038" cy="300038"/>
            </a:xfrm>
            <a:custGeom>
              <a:avLst/>
              <a:gdLst/>
              <a:ahLst/>
              <a:cxnLst/>
              <a:rect l="l" t="t" r="r" b="b"/>
              <a:pathLst>
                <a:path w="300038" h="300038">
                  <a:moveTo>
                    <a:pt x="300038" y="0"/>
                  </a:moveTo>
                  <a:lnTo>
                    <a:pt x="0" y="0"/>
                  </a:lnTo>
                  <a:lnTo>
                    <a:pt x="0" y="300038"/>
                  </a:lnTo>
                  <a:lnTo>
                    <a:pt x="300038" y="300038"/>
                  </a:lnTo>
                  <a:lnTo>
                    <a:pt x="300038" y="0"/>
                  </a:lnTo>
                  <a:close/>
                  <a:moveTo>
                    <a:pt x="107156" y="85725"/>
                  </a:moveTo>
                  <a:lnTo>
                    <a:pt x="137465" y="116033"/>
                  </a:lnTo>
                  <a:lnTo>
                    <a:pt x="103479" y="150019"/>
                  </a:lnTo>
                  <a:lnTo>
                    <a:pt x="137465" y="184004"/>
                  </a:lnTo>
                  <a:lnTo>
                    <a:pt x="107156" y="214312"/>
                  </a:lnTo>
                  <a:lnTo>
                    <a:pt x="42862" y="150019"/>
                  </a:lnTo>
                  <a:lnTo>
                    <a:pt x="107156" y="85725"/>
                  </a:lnTo>
                  <a:close/>
                  <a:moveTo>
                    <a:pt x="192881" y="85725"/>
                  </a:moveTo>
                  <a:lnTo>
                    <a:pt x="162573" y="116033"/>
                  </a:lnTo>
                  <a:lnTo>
                    <a:pt x="196559" y="150019"/>
                  </a:lnTo>
                  <a:lnTo>
                    <a:pt x="162573" y="184004"/>
                  </a:lnTo>
                  <a:lnTo>
                    <a:pt x="192881" y="214312"/>
                  </a:lnTo>
                  <a:lnTo>
                    <a:pt x="257175" y="150019"/>
                  </a:lnTo>
                  <a:lnTo>
                    <a:pt x="192881" y="85725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77456" y="4453890"/>
              <a:ext cx="1952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함수 (Function)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46342" y="4997768"/>
              <a:ext cx="3766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F2937"/>
                  </a:solidFill>
                  <a:latin typeface="Pretendard"/>
                  <a:ea typeface="Pretendard"/>
                  <a:cs typeface="Pretendard"/>
                </a:rPr>
                <a:t>코드 묶음에 이름을 붙여 필요할 때 불러 쓴다.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46342" y="5302568"/>
              <a:ext cx="37847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소스 속 위치 · 「엑스쿠터 컨트롤」 정의 1곳,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46342" y="56073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메인 루프에서 10번 호출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79704" y="6324600"/>
            <a:ext cx="10832592" cy="390906"/>
            <a:chOff x="679704" y="6324600"/>
            <a:chExt cx="10832592" cy="390906"/>
          </a:xfrm>
        </p:grpSpPr>
        <p:sp>
          <p:nvSpPr>
            <p:cNvPr id="46" name="Line 46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9704" y="64808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로봇 소프트웨어 개발 · 공동교육과정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43989" y="6480810"/>
              <a:ext cx="1868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7280"/>
                  </a:solidFill>
                  <a:latin typeface="Pretendard"/>
                  <a:ea typeface="Pretendard"/>
                  <a:cs typeface="Pretendard"/>
                </a:rPr>
                <a:t>XROBO Extreme X1 ·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7512" y="838200"/>
            <a:ext cx="6412459" cy="1415034"/>
            <a:chOff x="667512" y="838200"/>
            <a:chExt cx="6412459" cy="1415034"/>
          </a:xfrm>
        </p:grpSpPr>
        <p:sp>
          <p:nvSpPr>
            <p:cNvPr id="2" name="Rectangle 2"/>
            <p:cNvSpPr/>
            <p:nvPr/>
          </p:nvSpPr>
          <p:spPr>
            <a:xfrm>
              <a:off x="685800" y="838200"/>
              <a:ext cx="4572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7512" y="1230630"/>
              <a:ext cx="60920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6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값을 바꾸면 동작이 바뀐다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6656" y="1901190"/>
              <a:ext cx="64033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FFFFFF">
                      <a:alphaMod val="85000"/>
                    </a:srgbClr>
                  </a:solidFill>
                  <a:latin typeface="Pretendard"/>
                  <a:ea typeface="Pretendard"/>
                  <a:cs typeface="Pretendard"/>
                </a:rPr>
                <a:t>소스를 읽었다면, 이제 소스를 고칠 차례 — 변형 미션 3가지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800" y="2571750"/>
            <a:ext cx="10820400" cy="895350"/>
            <a:chOff x="685800" y="2571750"/>
            <a:chExt cx="10820400" cy="895350"/>
          </a:xfrm>
        </p:grpSpPr>
        <p:sp>
          <p:nvSpPr>
            <p:cNvPr id="6" name="Rectangle 6"/>
            <p:cNvSpPr/>
            <p:nvPr/>
          </p:nvSpPr>
          <p:spPr>
            <a:xfrm>
              <a:off x="685800" y="2571750"/>
              <a:ext cx="10820400" cy="89535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2218" y="2774632"/>
              <a:ext cx="2955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97316"/>
                  </a:solidFill>
                  <a:latin typeface="Pretendard"/>
                  <a:ea typeface="Pretendard"/>
                  <a:cs typeface="Pretendard"/>
                </a:rPr>
                <a:t>미션 1 · 속도와 시간 바꾸기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3742" y="3130868"/>
              <a:ext cx="8355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FFFFFF">
                      <a:alphaMod val="90000"/>
                    </a:srgbClr>
                  </a:solidFill>
                  <a:latin typeface="Pretendard"/>
                  <a:ea typeface="Pretendard"/>
                  <a:cs typeface="Pretendard"/>
                </a:rPr>
                <a:t>전진 속도 10을 30으로, 1000ms를 2000ms로 — 로봇의 움직임이 어떻게 달라지는지 예측하고 확인하자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3619500"/>
            <a:ext cx="10820400" cy="895350"/>
            <a:chOff x="685800" y="3619500"/>
            <a:chExt cx="10820400" cy="895350"/>
          </a:xfrm>
        </p:grpSpPr>
        <p:sp>
          <p:nvSpPr>
            <p:cNvPr id="10" name="Rectangle 10"/>
            <p:cNvSpPr/>
            <p:nvPr/>
          </p:nvSpPr>
          <p:spPr>
            <a:xfrm>
              <a:off x="685800" y="3619500"/>
              <a:ext cx="10820400" cy="89535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2218" y="3822382"/>
              <a:ext cx="32586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97316"/>
                  </a:solidFill>
                  <a:latin typeface="Pretendard"/>
                  <a:ea typeface="Pretendard"/>
                  <a:cs typeface="Pretendard"/>
                </a:rPr>
                <a:t>미션 2 · 새 버튼 분기 추가하기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3742" y="4178618"/>
              <a:ext cx="66366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FFFFFF">
                      <a:alphaMod val="90000"/>
                    </a:srgbClr>
                  </a:solidFill>
                  <a:latin typeface="Pretendard"/>
                  <a:ea typeface="Pretendard"/>
                  <a:cs typeface="Pretendard"/>
                </a:rPr>
                <a:t>중첩 if-else에 A6 = 3 가지를 추가해 제자리 회전(좌 20 · 우 -20)을 만들어 보자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4667250"/>
            <a:ext cx="10820400" cy="895350"/>
            <a:chOff x="685800" y="4667250"/>
            <a:chExt cx="10820400" cy="895350"/>
          </a:xfrm>
        </p:grpSpPr>
        <p:sp>
          <p:nvSpPr>
            <p:cNvPr id="14" name="Rectangle 14"/>
            <p:cNvSpPr/>
            <p:nvPr/>
          </p:nvSpPr>
          <p:spPr>
            <a:xfrm>
              <a:off x="685800" y="4667250"/>
              <a:ext cx="10820400" cy="89535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2218" y="4870132"/>
              <a:ext cx="3421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97316"/>
                  </a:solidFill>
                  <a:latin typeface="Pretendard"/>
                  <a:ea typeface="Pretendard"/>
                  <a:cs typeface="Pretendard"/>
                </a:rPr>
                <a:t>미션 3 · 나만의 멜로디 작곡하기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3742" y="5226368"/>
              <a:ext cx="8110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FFFFFF">
                      <a:alphaMod val="90000"/>
                    </a:srgbClr>
                  </a:solidFill>
                  <a:latin typeface="Pretendard"/>
                  <a:ea typeface="Pretendard"/>
                  <a:cs typeface="Pretendard"/>
                </a:rPr>
                <a:t>주파수 표를 참고해 7음 멜로디를 다른 곡으로 교체하자 — 재생·쉼 시간으로 리듬까지 표현하면 성공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78942" y="6159818"/>
            <a:ext cx="733855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350" b="1" dirty="0">
                <a:solidFill>
                  <a:srgbClr val="FFFFFF">
                    <a:alphaMod val="75000"/>
                  </a:srgbClr>
                </a:solidFill>
                <a:latin typeface="Pretendard"/>
                <a:ea typeface="Pretendard"/>
                <a:cs typeface="Pretendard"/>
              </a:rPr>
              <a:t>공동교육과정 로봇 소프트웨어 개발 · XROBO Extreme X1 · 3차시 엑스쿠터 컨트롤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2026-08-16T07:41:29Z</dcterms:created>
  <dcterms:modified xsi:type="dcterms:W3CDTF">2026-08-16T07:41:29Z</dcterms:modified>
  <cp:category/>
  <cp:contentStatus/>
</cp:coreProperties>
</file>